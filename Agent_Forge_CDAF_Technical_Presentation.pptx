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94360"/>
            <a:ext cx="1417320" cy="292608"/>
          </a:xfrm>
          <a:prstGeom prst="round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617220"/>
            <a:ext cx="1362456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1">
                <a:solidFill>
                  <a:srgbClr val="F0F5FC"/>
                </a:solidFill>
                <a:latin typeface="Aptos"/>
              </a:defRPr>
            </a:pPr>
            <a:r>
              <a:t>TECHNICAL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6858000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3800" b="1">
                <a:solidFill>
                  <a:srgbClr val="F0F5FC"/>
                </a:solidFill>
                <a:latin typeface="Aptos"/>
              </a:defRPr>
            </a:pPr>
            <a:r>
              <a:t>AGENT 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66751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100" b="1">
                <a:solidFill>
                  <a:srgbClr val="30CDDC"/>
                </a:solidFill>
                <a:latin typeface="Aptos"/>
              </a:defRPr>
            </a:pPr>
            <a:r>
              <a:t>Building a collaborative AI software engineering organization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337560"/>
            <a:ext cx="621792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0">
                <a:solidFill>
                  <a:srgbClr val="A7B8CF"/>
                </a:solidFill>
                <a:latin typeface="Aptos"/>
              </a:defRPr>
            </a:pPr>
            <a:r>
              <a:t>Contract-Driven Agent Forge (CDAF)</a:t>
            </a:r>
            <a:br/>
            <a:r>
              <a:t>A practical operating model for Claude Code and a multi-agent development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983480"/>
            <a:ext cx="1828800" cy="82296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4983480"/>
            <a:ext cx="64008" cy="822960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5093208"/>
            <a:ext cx="153619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PEOPLE +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5468112"/>
            <a:ext cx="151790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One team. Shared outcomes.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4983480"/>
            <a:ext cx="1828800" cy="82296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97480" y="4983480"/>
            <a:ext cx="64008" cy="822960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62072" y="5093208"/>
            <a:ext cx="153619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VISIBLE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5468112"/>
            <a:ext cx="151790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Tasks, artifacts, reviews.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4983480"/>
            <a:ext cx="1828800" cy="82296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60" y="4983480"/>
            <a:ext cx="64008" cy="822960"/>
          </a:xfrm>
          <a:prstGeom prst="rect">
            <a:avLst/>
          </a:prstGeom>
          <a:solidFill>
            <a:srgbClr val="4D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3752" y="5093208"/>
            <a:ext cx="153619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SAFE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5468112"/>
            <a:ext cx="151790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Tests, GitHub, deploy gates.</a:t>
            </a:r>
          </a:p>
        </p:txBody>
      </p:sp>
      <p:pic>
        <p:nvPicPr>
          <p:cNvPr id="19" name="Picture 18" descr="a_wide_infographic_style_design_mockup_on_a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89760"/>
            <a:ext cx="4343400" cy="2895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5800" y="6263640"/>
            <a:ext cx="6583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A7B8CF"/>
                </a:solidFill>
                <a:latin typeface="Aptos"/>
              </a:defRPr>
            </a:pPr>
            <a:r>
              <a:t>Presentation blueprint • 30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0F5FC"/>
                </a:solidFill>
                <a:latin typeface="Aptos"/>
              </a:defRPr>
            </a:pPr>
            <a:r>
              <a:t>The central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Do not build a crowd of chatbots. Build a coordinated engineering organization.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30CDD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520440" cy="18288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1828800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27048"/>
            <a:ext cx="32278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ONE SHARED 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901952"/>
            <a:ext cx="3209544" cy="12618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A project manager agent turns a product goal into small, verifiable work packages.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20440" cy="18288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64008" cy="1828800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527048"/>
            <a:ext cx="32278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SPECIALIZED OWNERS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901952"/>
            <a:ext cx="3209544" cy="12618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Developers, designers, QA, research, DevOps and security agents own clear domains.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520440" cy="18288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64008" cy="1828800"/>
          </a:xfrm>
          <a:prstGeom prst="rect">
            <a:avLst/>
          </a:prstGeom>
          <a:solidFill>
            <a:srgbClr val="4D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527048"/>
            <a:ext cx="32278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EVIDENCE-BASED 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901952"/>
            <a:ext cx="3209544" cy="12618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Every task ends with artifacts, tests, review evidence and a clear handoff.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1060704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100" b="1">
                <a:solidFill>
                  <a:srgbClr val="F0F5FC"/>
                </a:solidFill>
                <a:latin typeface="Aptos"/>
              </a:defRPr>
            </a:pPr>
            <a:r>
              <a:t>Human engineers remain accountable for product direction, architecture, risk acceptance and production release.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983480"/>
            <a:ext cx="987552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500" b="1">
                <a:solidFill>
                  <a:srgbClr val="FFAE4E"/>
                </a:solidFill>
                <a:latin typeface="Aptos"/>
              </a:defRPr>
            </a:pPr>
            <a:r>
              <a:t>AI agents accelerate execution; they do not remove the need for engineering judgment.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700" b="0">
                <a:solidFill>
                  <a:srgbClr val="A7B8CF"/>
                </a:solidFill>
                <a:latin typeface="Aptos"/>
              </a:defRPr>
            </a:pPr>
            <a:r>
              <a:t>AGENT FORGE  •  CONTRACT-DRIVEN AGENT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A7B8CF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0F5FC"/>
                </a:solidFill>
                <a:latin typeface="Aptos"/>
              </a:defRPr>
            </a:pPr>
            <a:r>
              <a:t>The platform we are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The uploaded requirements describe a VS Code + Claude Code-inspired control room.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30CDDC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5" name="Picture 4" descr="a_wide_infographic_poster_presentation_board_w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72540"/>
            <a:ext cx="7498079" cy="499871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371600"/>
            <a:ext cx="3383280" cy="96012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0" y="1371600"/>
            <a:ext cx="64008" cy="960120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94192" y="1481328"/>
            <a:ext cx="30906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1856232"/>
            <a:ext cx="3072384" cy="3931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Service health, alerts, active projects and running agents.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514600"/>
            <a:ext cx="3383280" cy="96012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2514600"/>
            <a:ext cx="64008" cy="960120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2624328"/>
            <a:ext cx="30906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PROJECT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999232"/>
            <a:ext cx="3072384" cy="3931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Project list, manager conversation, agent activity and image input.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657600"/>
            <a:ext cx="3383280" cy="96012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3657600"/>
            <a:ext cx="64008" cy="960120"/>
          </a:xfrm>
          <a:prstGeom prst="rect">
            <a:avLst/>
          </a:prstGeom>
          <a:solidFill>
            <a:srgbClr val="B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3767328"/>
            <a:ext cx="30906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AGENT + MODEL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4142232"/>
            <a:ext cx="3072384" cy="3931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Roles, skills, hierarchy, model usage and task status.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800600"/>
            <a:ext cx="3383280" cy="96012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4800600"/>
            <a:ext cx="64008" cy="960120"/>
          </a:xfrm>
          <a:prstGeom prst="rect">
            <a:avLst/>
          </a:prstGeom>
          <a:solidFill>
            <a:srgbClr val="4D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4910328"/>
            <a:ext cx="30906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FILE +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285232"/>
            <a:ext cx="3072384" cy="3931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File manager, terminal, GitHub sync and safe restart.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700" b="0">
                <a:solidFill>
                  <a:srgbClr val="A7B8CF"/>
                </a:solidFill>
                <a:latin typeface="Aptos"/>
              </a:defRPr>
            </a:pPr>
            <a:r>
              <a:t>AGENT FORGE  •  CONTRACT-DRIVEN AGENT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A7B8CF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0F5FC"/>
                </a:solidFill>
                <a:latin typeface="Aptos"/>
              </a:defRPr>
            </a:pPr>
            <a:r>
              <a:t>The agent 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Use role specialization, but keep one accountable owner for each deliverable.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30CDD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234440"/>
            <a:ext cx="2743200" cy="77724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FFA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72583" y="1307592"/>
            <a:ext cx="26334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Human Product Owner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18488"/>
            <a:ext cx="2596896" cy="356615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Priorities • acceptance •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2423160"/>
            <a:ext cx="2743200" cy="77724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37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2583" y="2496312"/>
            <a:ext cx="26334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Project Manager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2807208"/>
            <a:ext cx="2596896" cy="356615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Plan • delegate • integrate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86200"/>
            <a:ext cx="2423160" cy="82296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30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3959352"/>
            <a:ext cx="231343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Architect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1" y="4270248"/>
            <a:ext cx="2276856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System 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3886200"/>
            <a:ext cx="2423160" cy="82296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B0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3864" y="3959352"/>
            <a:ext cx="231343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Researcher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4270248"/>
            <a:ext cx="2276856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Evidence &amp; options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86200"/>
            <a:ext cx="2423160" cy="82296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FFA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3" y="3959352"/>
            <a:ext cx="231343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UX / Product Designer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270248"/>
            <a:ext cx="2276856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Flows &amp; visual specs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3886200"/>
            <a:ext cx="2423160" cy="82296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37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3959352"/>
            <a:ext cx="231343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Frontend Developer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2" y="4270248"/>
            <a:ext cx="2276856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UI implementation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257800"/>
            <a:ext cx="2423160" cy="82296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4D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5330952"/>
            <a:ext cx="231343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Backend Developer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1" y="5641848"/>
            <a:ext cx="2276856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API &amp;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5257800"/>
            <a:ext cx="2423160" cy="82296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F4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83864" y="5330952"/>
            <a:ext cx="231343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QA Engineer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5641848"/>
            <a:ext cx="2276856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Tests &amp; verification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5257800"/>
            <a:ext cx="2423160" cy="82296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B0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72783" y="5330952"/>
            <a:ext cx="231343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Security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1072" y="5641848"/>
            <a:ext cx="2276856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Threats &amp; controls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06840" y="5257800"/>
            <a:ext cx="2423160" cy="82296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30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61704" y="5330952"/>
            <a:ext cx="231343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DevOps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9992" y="5641848"/>
            <a:ext cx="2276856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CI/CD &amp; operations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989320" y="2011680"/>
            <a:ext cx="0" cy="411480"/>
          </a:xfrm>
          <a:prstGeom prst="line">
            <a:avLst/>
          </a:prstGeom>
          <a:ln w="22860">
            <a:solidFill>
              <a:srgbClr val="FFA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847088" y="3200400"/>
            <a:ext cx="4142232" cy="685800"/>
          </a:xfrm>
          <a:prstGeom prst="line">
            <a:avLst/>
          </a:prstGeom>
          <a:ln w="22860">
            <a:solidFill>
              <a:srgbClr val="37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1847088" y="3200400"/>
            <a:ext cx="4142232" cy="2057400"/>
          </a:xfrm>
          <a:prstGeom prst="line">
            <a:avLst/>
          </a:prstGeom>
          <a:ln w="22860">
            <a:solidFill>
              <a:srgbClr val="37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4636008" y="3200400"/>
            <a:ext cx="1353312" cy="685800"/>
          </a:xfrm>
          <a:prstGeom prst="line">
            <a:avLst/>
          </a:prstGeom>
          <a:ln w="22860">
            <a:solidFill>
              <a:srgbClr val="37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4636008" y="3200400"/>
            <a:ext cx="1353312" cy="2057400"/>
          </a:xfrm>
          <a:prstGeom prst="line">
            <a:avLst/>
          </a:prstGeom>
          <a:ln w="22860">
            <a:solidFill>
              <a:srgbClr val="37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989320" y="3200400"/>
            <a:ext cx="1435607" cy="685800"/>
          </a:xfrm>
          <a:prstGeom prst="line">
            <a:avLst/>
          </a:prstGeom>
          <a:ln w="22860">
            <a:solidFill>
              <a:srgbClr val="37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989320" y="3200400"/>
            <a:ext cx="1435607" cy="2057400"/>
          </a:xfrm>
          <a:prstGeom prst="line">
            <a:avLst/>
          </a:prstGeom>
          <a:ln w="22860">
            <a:solidFill>
              <a:srgbClr val="37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989320" y="3200400"/>
            <a:ext cx="4224528" cy="685800"/>
          </a:xfrm>
          <a:prstGeom prst="line">
            <a:avLst/>
          </a:prstGeom>
          <a:ln w="22860">
            <a:solidFill>
              <a:srgbClr val="37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989320" y="3200400"/>
            <a:ext cx="4224528" cy="2057400"/>
          </a:xfrm>
          <a:prstGeom prst="line">
            <a:avLst/>
          </a:prstGeom>
          <a:ln w="22860">
            <a:solidFill>
              <a:srgbClr val="37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700" b="0">
                <a:solidFill>
                  <a:srgbClr val="A7B8CF"/>
                </a:solidFill>
                <a:latin typeface="Aptos"/>
              </a:defRPr>
            </a:pPr>
            <a:r>
              <a:t>AGENT FORGE  •  CONTRACT-DRIVEN AGENT ENGINEERING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A7B8CF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0F5FC"/>
                </a:solidFill>
                <a:latin typeface="Aptos"/>
              </a:defRPr>
            </a:pPr>
            <a:r>
              <a:t>Hierarchy without silos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Agents report upward, collaborate laterally, and can propose work—with policy controls.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30CDD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143000"/>
            <a:ext cx="2834640" cy="73152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FFA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18303" y="1216152"/>
            <a:ext cx="272491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Project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6592" y="1527048"/>
            <a:ext cx="268833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Single accountable coordinator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2286000" cy="82296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B0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999232"/>
            <a:ext cx="21762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Research 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310128"/>
            <a:ext cx="2139696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Findings + citations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926080"/>
            <a:ext cx="2286000" cy="82296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37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2424" y="2999232"/>
            <a:ext cx="21762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Engineering Lead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3310128"/>
            <a:ext cx="2139696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Code + 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926080"/>
            <a:ext cx="2286000" cy="82296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30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98464" y="2999232"/>
            <a:ext cx="21762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Design 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3310128"/>
            <a:ext cx="2139696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UX + assets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2926080"/>
            <a:ext cx="2286000" cy="82296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4D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04504" y="2999232"/>
            <a:ext cx="21762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Quality 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3310128"/>
            <a:ext cx="2139696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Tests + release evidence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874519" y="1874519"/>
            <a:ext cx="4206241" cy="1051561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480560" y="1874519"/>
            <a:ext cx="1600200" cy="1051561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80760" y="1874519"/>
            <a:ext cx="1005840" cy="1051561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80760" y="1874519"/>
            <a:ext cx="3611880" cy="1051561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434340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700" b="1">
                <a:solidFill>
                  <a:srgbClr val="30CDDC"/>
                </a:solidFill>
                <a:latin typeface="Aptos"/>
              </a:defRPr>
            </a:pPr>
            <a:r>
              <a:t>Lateral collaboration: Research ↔ Engineering ↔ Design ↔ QA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983480"/>
            <a:ext cx="3154680" cy="9144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4983480"/>
            <a:ext cx="64008" cy="914400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5093208"/>
            <a:ext cx="28620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5468112"/>
            <a:ext cx="2843784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Status, blockers, artifacts and confidence.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6280" y="4983480"/>
            <a:ext cx="3154680" cy="9144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26280" y="4983480"/>
            <a:ext cx="64008" cy="914400"/>
          </a:xfrm>
          <a:prstGeom prst="rect">
            <a:avLst/>
          </a:prstGeom>
          <a:solidFill>
            <a:srgbClr val="B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90872" y="5093208"/>
            <a:ext cx="28620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PROPOSALS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0872" y="5468112"/>
            <a:ext cx="2843784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Agents may suggest improvements; manager validates scope.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4983480"/>
            <a:ext cx="3154680" cy="9144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4983480"/>
            <a:ext cx="64008" cy="914400"/>
          </a:xfrm>
          <a:prstGeom prst="rect">
            <a:avLst/>
          </a:prstGeom>
          <a:solidFill>
            <a:srgbClr val="FFA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2" y="5093208"/>
            <a:ext cx="28620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ESCALATION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5468112"/>
            <a:ext cx="2843784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Human approval for sensitive actions and release decisions.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700" b="0">
                <a:solidFill>
                  <a:srgbClr val="A7B8CF"/>
                </a:solidFill>
                <a:latin typeface="Aptos"/>
              </a:defRPr>
            </a:pPr>
            <a:r>
              <a:t>AGENT FORGE  •  CONTRACT-DRIVEN AGENT ENGINEERING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A7B8CF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0F5FC"/>
                </a:solidFill>
                <a:latin typeface="Aptos"/>
              </a:defRPr>
            </a:pPr>
            <a:r>
              <a:t>The original method: CDAF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Contract-Driven Agent Forge makes delegation explicit, testable and repeatable.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30CDD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645920" cy="105156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37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1901952"/>
            <a:ext cx="153619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1. INTENT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212848"/>
            <a:ext cx="1499616" cy="6309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Goal + constraints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48840" y="2359152"/>
            <a:ext cx="256032" cy="0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41448" y="1828800"/>
            <a:ext cx="1645920" cy="105156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30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6312" y="1901952"/>
            <a:ext cx="153619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2.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212848"/>
            <a:ext cx="1499616" cy="6309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Inputs + outputs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87368" y="2359152"/>
            <a:ext cx="256032" cy="0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79976" y="1828800"/>
            <a:ext cx="1645920" cy="105156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B0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901952"/>
            <a:ext cx="153619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3. ASSIGN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212848"/>
            <a:ext cx="1499616" cy="6309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Role + owner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25896" y="2359152"/>
            <a:ext cx="256032" cy="0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18504" y="1828800"/>
            <a:ext cx="1645920" cy="105156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FFA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01952"/>
            <a:ext cx="153619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4. EXECUTE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212848"/>
            <a:ext cx="1499616" cy="6309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Tools + workspace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64424" y="2359152"/>
            <a:ext cx="256032" cy="0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257032" y="1828800"/>
            <a:ext cx="1645920" cy="105156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4D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1896" y="1901952"/>
            <a:ext cx="153619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5.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4" y="2212848"/>
            <a:ext cx="1499616" cy="6309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Tests + review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902952" y="2359152"/>
            <a:ext cx="256032" cy="0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195560" y="1828800"/>
            <a:ext cx="1645920" cy="105156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37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50424" y="1901952"/>
            <a:ext cx="153619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6. MERGE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68712" y="2212848"/>
            <a:ext cx="1499616" cy="6309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Artifact + handoff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886200"/>
            <a:ext cx="3383280" cy="123444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3886200"/>
            <a:ext cx="64008" cy="1234440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3995928"/>
            <a:ext cx="30906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TASK CONTRACT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4370832"/>
            <a:ext cx="3072384" cy="6675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Every task has a bounded scope, owner, dependencies, acceptance criteria and output path.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3886200"/>
            <a:ext cx="3383280" cy="123444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89120" y="3886200"/>
            <a:ext cx="64008" cy="1234440"/>
          </a:xfrm>
          <a:prstGeom prst="rect">
            <a:avLst/>
          </a:prstGeom>
          <a:solidFill>
            <a:srgbClr val="B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53712" y="3995928"/>
            <a:ext cx="30906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SHARED MEMORY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4370832"/>
            <a:ext cx="3072384" cy="6675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Decisions, architecture notes, conventions and current project state are discoverable.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3886200"/>
            <a:ext cx="3383280" cy="123444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46720" y="3886200"/>
            <a:ext cx="64008" cy="1234440"/>
          </a:xfrm>
          <a:prstGeom prst="rect">
            <a:avLst/>
          </a:prstGeom>
          <a:solidFill>
            <a:srgbClr val="4D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3995928"/>
            <a:ext cx="30906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QUALITY GATES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370832"/>
            <a:ext cx="3072384" cy="6675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No completion without evidence: tests, review, security and integration checks.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700" b="0">
                <a:solidFill>
                  <a:srgbClr val="A7B8CF"/>
                </a:solidFill>
                <a:latin typeface="Aptos"/>
              </a:defRPr>
            </a:pPr>
            <a:r>
              <a:t>AGENT FORGE  •  CONTRACT-DRIVEN AGENT ENGINEERING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A7B8CF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0F5FC"/>
                </a:solidFill>
                <a:latin typeface="Aptos"/>
              </a:defRPr>
            </a:pPr>
            <a:r>
              <a:t>How one request becomes working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A manager decomposes work until tasks are small enough to execute and verify.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30CDD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828800" cy="91440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FFA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1490472"/>
            <a:ext cx="17190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User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801368"/>
            <a:ext cx="1682496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Natural language + 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417320"/>
            <a:ext cx="1828800" cy="91440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37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9504" y="1490472"/>
            <a:ext cx="17190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Manager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2" y="1801368"/>
            <a:ext cx="1682496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Break down + sequence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417320"/>
            <a:ext cx="1828800" cy="91440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30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9783" y="1490472"/>
            <a:ext cx="17190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Task contracts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8072" y="1801368"/>
            <a:ext cx="1682496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Owners + acceptance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417320"/>
            <a:ext cx="1828800" cy="91440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B0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0064" y="1490472"/>
            <a:ext cx="17190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Parallel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2" y="1801368"/>
            <a:ext cx="1682496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Code / design / research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1417320"/>
            <a:ext cx="1828800" cy="91440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4D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10344" y="1490472"/>
            <a:ext cx="17190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8632" y="1801368"/>
            <a:ext cx="1682496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QA + human review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23160" y="1874519"/>
            <a:ext cx="384048" cy="0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63440" y="1874519"/>
            <a:ext cx="384048" cy="0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903720" y="1874519"/>
            <a:ext cx="384048" cy="0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144000" y="1874519"/>
            <a:ext cx="384048" cy="0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77240" y="3200400"/>
            <a:ext cx="3337560" cy="132588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3200400"/>
            <a:ext cx="64008" cy="1325880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3310128"/>
            <a:ext cx="30449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DECOMPOSITION RULE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3685032"/>
            <a:ext cx="3026664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Split by independently testable outcome—not merely by file or job title.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200400"/>
            <a:ext cx="3337560" cy="132588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34840" y="3200400"/>
            <a:ext cx="64008" cy="1325880"/>
          </a:xfrm>
          <a:prstGeom prst="rect">
            <a:avLst/>
          </a:prstGeom>
          <a:solidFill>
            <a:srgbClr val="B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9431" y="3310128"/>
            <a:ext cx="30449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DEPENDENCY GRAPH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1" y="3685032"/>
            <a:ext cx="3026664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Run independent tasks in parallel; serialize conflicting edits and migrations.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3200400"/>
            <a:ext cx="3337560" cy="132588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92440" y="3200400"/>
            <a:ext cx="64008" cy="1325880"/>
          </a:xfrm>
          <a:prstGeom prst="rect">
            <a:avLst/>
          </a:prstGeom>
          <a:solidFill>
            <a:srgbClr val="4D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57031" y="3310128"/>
            <a:ext cx="30449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DONE MEANS VERIFIED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1" y="3685032"/>
            <a:ext cx="3026664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Acceptance criteria pass, artifact exists, reviewer signs off, status is reported.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166360"/>
            <a:ext cx="101498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500" b="1">
                <a:solidFill>
                  <a:srgbClr val="FFAE4E"/>
                </a:solidFill>
                <a:latin typeface="Aptos"/>
              </a:defRPr>
            </a:pPr>
            <a:r>
              <a:t>If one agent is overloaded, clone a role instance only when work can be safely partitioned.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700" b="0">
                <a:solidFill>
                  <a:srgbClr val="A7B8CF"/>
                </a:solidFill>
                <a:latin typeface="Aptos"/>
              </a:defRPr>
            </a:pPr>
            <a:r>
              <a:t>AGENT FORGE  •  CONTRACT-DRIVEN AGENT ENGINEERING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A7B8CF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0F5FC"/>
                </a:solidFill>
                <a:latin typeface="Aptos"/>
              </a:defRPr>
            </a:pPr>
            <a:r>
              <a:t>Face-to-face is the coordination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Make in-person collaboration the default for alignment, ambiguity and high-risk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30CDD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474720" cy="123444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64008" cy="1234440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81328"/>
            <a:ext cx="318211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HUMAN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56232"/>
            <a:ext cx="3163824" cy="6675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Daily stand-up, planning, architecture, design critique, code review and retrospective.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474720" cy="123444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64008" cy="1234440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481328"/>
            <a:ext cx="318211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AGENT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856232"/>
            <a:ext cx="3163824" cy="6675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Manager-agent syncs, specialist handoffs, blocker triage and live review of agent output.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371600"/>
            <a:ext cx="3474720" cy="123444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371600"/>
            <a:ext cx="64008" cy="1234440"/>
          </a:xfrm>
          <a:prstGeom prst="rect">
            <a:avLst/>
          </a:prstGeom>
          <a:solidFill>
            <a:srgbClr val="B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1481328"/>
            <a:ext cx="318211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JOINT 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1856232"/>
            <a:ext cx="3163824" cy="6675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Humans and agents inspect the same artifacts, ask questions and agree on next actions.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54680"/>
            <a:ext cx="103327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000" b="1">
                <a:solidFill>
                  <a:srgbClr val="F0F5FC"/>
                </a:solidFill>
                <a:latin typeface="Aptos"/>
              </a:defRPr>
            </a:pPr>
            <a:r>
              <a:t>Meeting rule: every meeting produces a decision, an owner, and a timestamped action.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69080"/>
            <a:ext cx="2606040" cy="749808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69080"/>
            <a:ext cx="64008" cy="749808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178808"/>
            <a:ext cx="23134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Stand-up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553712"/>
            <a:ext cx="2295144" cy="18287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15 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4069080"/>
            <a:ext cx="2606040" cy="749808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66160" y="4069080"/>
            <a:ext cx="64008" cy="749808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0752" y="4178808"/>
            <a:ext cx="23134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Planning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30752" y="4553712"/>
            <a:ext cx="2295144" cy="18287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45–60 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4069080"/>
            <a:ext cx="2606040" cy="749808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46520" y="4069080"/>
            <a:ext cx="64008" cy="749808"/>
          </a:xfrm>
          <a:prstGeom prst="rect">
            <a:avLst/>
          </a:prstGeom>
          <a:solidFill>
            <a:srgbClr val="B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1112" y="4178808"/>
            <a:ext cx="23134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4553712"/>
            <a:ext cx="2295144" cy="18287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45 min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0" y="4069080"/>
            <a:ext cx="2606040" cy="749808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26880" y="4069080"/>
            <a:ext cx="64008" cy="749808"/>
          </a:xfrm>
          <a:prstGeom prst="rect">
            <a:avLst/>
          </a:prstGeom>
          <a:solidFill>
            <a:srgbClr val="FFA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91472" y="4178808"/>
            <a:ext cx="23134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Design critique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91472" y="4553712"/>
            <a:ext cx="2295144" cy="18287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30 min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029200"/>
            <a:ext cx="2606040" cy="749808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5800" y="5029200"/>
            <a:ext cx="64008" cy="749808"/>
          </a:xfrm>
          <a:prstGeom prst="rect">
            <a:avLst/>
          </a:prstGeom>
          <a:solidFill>
            <a:srgbClr val="4D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" y="5138928"/>
            <a:ext cx="23134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Code 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513832"/>
            <a:ext cx="2295144" cy="18287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30 min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66160" y="5029200"/>
            <a:ext cx="2606040" cy="749808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66160" y="5029200"/>
            <a:ext cx="64008" cy="749808"/>
          </a:xfrm>
          <a:prstGeom prst="rect">
            <a:avLst/>
          </a:prstGeom>
          <a:solidFill>
            <a:srgbClr val="F4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30752" y="5138928"/>
            <a:ext cx="23134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QA triage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30752" y="5513832"/>
            <a:ext cx="2295144" cy="18287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30 min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46520" y="5029200"/>
            <a:ext cx="2606040" cy="749808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46520" y="5029200"/>
            <a:ext cx="64008" cy="749808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11112" y="5138928"/>
            <a:ext cx="23134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11112" y="5513832"/>
            <a:ext cx="2295144" cy="18287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30 min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26880" y="5029200"/>
            <a:ext cx="2606040" cy="749808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326880" y="5029200"/>
            <a:ext cx="64008" cy="749808"/>
          </a:xfrm>
          <a:prstGeom prst="rect">
            <a:avLst/>
          </a:prstGeom>
          <a:solidFill>
            <a:srgbClr val="B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91472" y="5138928"/>
            <a:ext cx="23134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Retro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91472" y="5513832"/>
            <a:ext cx="2295144" cy="18287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45 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700" b="0">
                <a:solidFill>
                  <a:srgbClr val="A7B8CF"/>
                </a:solidFill>
                <a:latin typeface="Aptos"/>
              </a:defRPr>
            </a:pPr>
            <a:r>
              <a:t>AGENT FORGE  •  CONTRACT-DRIVEN AGENT ENGINEERING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A7B8CF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0F5FC"/>
                </a:solidFill>
                <a:latin typeface="Aptos"/>
              </a:defRPr>
            </a:pPr>
            <a:r>
              <a:t>A meeting-rich operating rhythm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Schedule regular in-person checkpoints; use async messages only for simple updates.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30CDD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011680" cy="292608"/>
          </a:xfrm>
          <a:prstGeom prst="round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440180"/>
            <a:ext cx="1956816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1">
                <a:solidFill>
                  <a:srgbClr val="F0F5FC"/>
                </a:solidFill>
                <a:latin typeface="Aptos"/>
              </a:defRPr>
            </a:pPr>
            <a:r>
              <a:t>MON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011680" cy="9144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64008" cy="914400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84248"/>
            <a:ext cx="17190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F0F5FC"/>
                </a:solidFill>
                <a:latin typeface="Aptos"/>
              </a:defRPr>
            </a:pPr>
            <a:r>
              <a:t>Sprint 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359152"/>
            <a:ext cx="1700784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Team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017520"/>
            <a:ext cx="2011680" cy="9144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3017520"/>
            <a:ext cx="64008" cy="914400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127248"/>
            <a:ext cx="17190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F0F5FC"/>
                </a:solidFill>
                <a:latin typeface="Aptos"/>
              </a:defRPr>
            </a:pPr>
            <a:r>
              <a:t>Architecture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502152"/>
            <a:ext cx="1700784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160520"/>
            <a:ext cx="2011680" cy="9144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4160520"/>
            <a:ext cx="64008" cy="914400"/>
          </a:xfrm>
          <a:prstGeom prst="rect">
            <a:avLst/>
          </a:prstGeom>
          <a:solidFill>
            <a:srgbClr val="B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270248"/>
            <a:ext cx="17190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F0F5FC"/>
                </a:solidFill>
                <a:latin typeface="Aptos"/>
              </a:defRPr>
            </a:pPr>
            <a:r>
              <a:t>Agent task kickoff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645152"/>
            <a:ext cx="1700784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79" y="1417320"/>
            <a:ext cx="2011680" cy="292608"/>
          </a:xfrm>
          <a:prstGeom prst="round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53511" y="1440180"/>
            <a:ext cx="1956816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1">
                <a:solidFill>
                  <a:srgbClr val="F0F5FC"/>
                </a:solidFill>
                <a:latin typeface="Aptos"/>
              </a:defRPr>
            </a:pPr>
            <a:r>
              <a:t>TUE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79" y="1874519"/>
            <a:ext cx="2011680" cy="9144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26079" y="1874519"/>
            <a:ext cx="64008" cy="914400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90672" y="1984248"/>
            <a:ext cx="17190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F0F5FC"/>
                </a:solidFill>
                <a:latin typeface="Aptos"/>
              </a:defRPr>
            </a:pPr>
            <a:r>
              <a:t>Daily stand-up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0672" y="2359152"/>
            <a:ext cx="1700784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Team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79" y="3017520"/>
            <a:ext cx="2011680" cy="9144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26079" y="3017520"/>
            <a:ext cx="64008" cy="914400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3127248"/>
            <a:ext cx="17190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F0F5FC"/>
                </a:solidFill>
                <a:latin typeface="Aptos"/>
              </a:defRPr>
            </a:pPr>
            <a:r>
              <a:t>Design critique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90672" y="3502152"/>
            <a:ext cx="1700784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6079" y="4160520"/>
            <a:ext cx="2011680" cy="9144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26079" y="4160520"/>
            <a:ext cx="64008" cy="914400"/>
          </a:xfrm>
          <a:prstGeom prst="rect">
            <a:avLst/>
          </a:prstGeom>
          <a:solidFill>
            <a:srgbClr val="B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90672" y="4270248"/>
            <a:ext cx="17190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F0F5FC"/>
                </a:solidFill>
                <a:latin typeface="Aptos"/>
              </a:defRPr>
            </a:pPr>
            <a:r>
              <a:t>Pairing / live 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90672" y="4645152"/>
            <a:ext cx="1700784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57800" y="1417320"/>
            <a:ext cx="2011680" cy="292608"/>
          </a:xfrm>
          <a:prstGeom prst="roundRect">
            <a:avLst/>
          </a:prstGeom>
          <a:solidFill>
            <a:srgbClr val="B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85232" y="1440180"/>
            <a:ext cx="1956816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1">
                <a:solidFill>
                  <a:srgbClr val="F0F5FC"/>
                </a:solidFill>
                <a:latin typeface="Aptos"/>
              </a:defRPr>
            </a:pPr>
            <a:r>
              <a:t>WED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57800" y="1874519"/>
            <a:ext cx="2011680" cy="9144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257800" y="1874519"/>
            <a:ext cx="64008" cy="914400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22392" y="1984248"/>
            <a:ext cx="17190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F0F5FC"/>
                </a:solidFill>
                <a:latin typeface="Aptos"/>
              </a:defRPr>
            </a:pPr>
            <a:r>
              <a:t>Daily stand-up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22392" y="2359152"/>
            <a:ext cx="1700784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Team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57800" y="3017520"/>
            <a:ext cx="2011680" cy="9144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257800" y="3017520"/>
            <a:ext cx="64008" cy="914400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22392" y="3127248"/>
            <a:ext cx="17190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F0F5FC"/>
                </a:solidFill>
                <a:latin typeface="Aptos"/>
              </a:defRPr>
            </a:pPr>
            <a:r>
              <a:t>Integration 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22392" y="3502152"/>
            <a:ext cx="1700784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57800" y="4160520"/>
            <a:ext cx="2011680" cy="9144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57800" y="4160520"/>
            <a:ext cx="64008" cy="914400"/>
          </a:xfrm>
          <a:prstGeom prst="rect">
            <a:avLst/>
          </a:prstGeom>
          <a:solidFill>
            <a:srgbClr val="B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22392" y="4270248"/>
            <a:ext cx="17190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F0F5FC"/>
                </a:solidFill>
                <a:latin typeface="Aptos"/>
              </a:defRPr>
            </a:pPr>
            <a:r>
              <a:t>QA test triage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22392" y="4645152"/>
            <a:ext cx="1700784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89519" y="1417320"/>
            <a:ext cx="2011680" cy="292608"/>
          </a:xfrm>
          <a:prstGeom prst="roundRect">
            <a:avLst/>
          </a:prstGeom>
          <a:solidFill>
            <a:srgbClr val="FFA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16951" y="1440180"/>
            <a:ext cx="1956816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1">
                <a:solidFill>
                  <a:srgbClr val="F0F5FC"/>
                </a:solidFill>
                <a:latin typeface="Aptos"/>
              </a:defRPr>
            </a:pPr>
            <a:r>
              <a:t>THU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89519" y="1874519"/>
            <a:ext cx="2011680" cy="9144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589519" y="1874519"/>
            <a:ext cx="64008" cy="914400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54111" y="1984248"/>
            <a:ext cx="17190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F0F5FC"/>
                </a:solidFill>
                <a:latin typeface="Aptos"/>
              </a:defRPr>
            </a:pPr>
            <a:r>
              <a:t>Daily stand-up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54111" y="2359152"/>
            <a:ext cx="1700784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Team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589519" y="3017520"/>
            <a:ext cx="2011680" cy="9144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19" y="3017520"/>
            <a:ext cx="64008" cy="914400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54111" y="3127248"/>
            <a:ext cx="17190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F0F5FC"/>
                </a:solidFill>
                <a:latin typeface="Aptos"/>
              </a:defRPr>
            </a:pPr>
            <a:r>
              <a:t>Security / performance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54111" y="3502152"/>
            <a:ext cx="1700784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589519" y="4160520"/>
            <a:ext cx="2011680" cy="9144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589519" y="4160520"/>
            <a:ext cx="64008" cy="914400"/>
          </a:xfrm>
          <a:prstGeom prst="rect">
            <a:avLst/>
          </a:prstGeom>
          <a:solidFill>
            <a:srgbClr val="B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54111" y="4270248"/>
            <a:ext cx="17190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F0F5FC"/>
                </a:solidFill>
                <a:latin typeface="Aptos"/>
              </a:defRPr>
            </a:pPr>
            <a:r>
              <a:t>Release rehearsal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54111" y="4645152"/>
            <a:ext cx="1700784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921240" y="1417320"/>
            <a:ext cx="2011680" cy="292608"/>
          </a:xfrm>
          <a:prstGeom prst="roundRect">
            <a:avLst/>
          </a:prstGeom>
          <a:solidFill>
            <a:srgbClr val="4D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48672" y="1440180"/>
            <a:ext cx="1956816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1">
                <a:solidFill>
                  <a:srgbClr val="F0F5FC"/>
                </a:solidFill>
                <a:latin typeface="Aptos"/>
              </a:defRPr>
            </a:pPr>
            <a:r>
              <a:t>FRI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921240" y="1874519"/>
            <a:ext cx="2011680" cy="9144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921240" y="1874519"/>
            <a:ext cx="64008" cy="914400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85832" y="1984248"/>
            <a:ext cx="17190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F0F5FC"/>
                </a:solidFill>
                <a:latin typeface="Aptos"/>
              </a:defRPr>
            </a:pPr>
            <a:r>
              <a:t>Demo &amp; acceptance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85832" y="2359152"/>
            <a:ext cx="1700784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Team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921240" y="3017520"/>
            <a:ext cx="2011680" cy="9144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921240" y="3017520"/>
            <a:ext cx="64008" cy="914400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085832" y="3127248"/>
            <a:ext cx="17190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F0F5FC"/>
                </a:solidFill>
                <a:latin typeface="Aptos"/>
              </a:defRPr>
            </a:pPr>
            <a:r>
              <a:t>Retrospective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85832" y="3502152"/>
            <a:ext cx="1700784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921240" y="4160520"/>
            <a:ext cx="2011680" cy="9144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921240" y="4160520"/>
            <a:ext cx="64008" cy="914400"/>
          </a:xfrm>
          <a:prstGeom prst="rect">
            <a:avLst/>
          </a:prstGeom>
          <a:solidFill>
            <a:srgbClr val="B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085832" y="4270248"/>
            <a:ext cx="17190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F0F5FC"/>
                </a:solidFill>
                <a:latin typeface="Aptos"/>
              </a:defRPr>
            </a:pPr>
            <a:r>
              <a:t>Next sprint prep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85832" y="4645152"/>
            <a:ext cx="1700784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" y="562356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300" b="1">
                <a:solidFill>
                  <a:srgbClr val="30CDDC"/>
                </a:solidFill>
                <a:latin typeface="Aptos"/>
              </a:defRPr>
            </a:pPr>
            <a:r>
              <a:t>Every day: 15-minute stand-up • two short manager/lead syncs • open collaboration time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700" b="0">
                <a:solidFill>
                  <a:srgbClr val="A7B8CF"/>
                </a:solidFill>
                <a:latin typeface="Aptos"/>
              </a:defRPr>
            </a:pPr>
            <a:r>
              <a:t>AGENT FORGE  •  CONTRACT-DRIVEN AGENT ENGINEERING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A7B8CF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0F5FC"/>
                </a:solidFill>
                <a:latin typeface="Aptos"/>
              </a:defRPr>
            </a:pPr>
            <a:r>
              <a:t>Face-to-face meeting formats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Use the right room, participants and artifacts for each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30CDD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349240" cy="1024128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024128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435607"/>
            <a:ext cx="5056631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Daily stand-up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10512"/>
            <a:ext cx="5038344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All team + manager agent</a:t>
            </a:r>
            <a:br/>
            <a:r>
              <a:t>Yesterday / today / blockers</a:t>
            </a:r>
            <a:br/>
            <a:r>
              <a:t>15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349240" cy="1024128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64008" cy="1024128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435607"/>
            <a:ext cx="5056631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Sprint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810512"/>
            <a:ext cx="5038344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PO + PM + leads</a:t>
            </a:r>
            <a:br/>
            <a:r>
              <a:t>Priorities, capacity, task contracts</a:t>
            </a:r>
            <a:br/>
            <a:r>
              <a:t>45–60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32888"/>
            <a:ext cx="5349240" cy="1024128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532888"/>
            <a:ext cx="64008" cy="1024128"/>
          </a:xfrm>
          <a:prstGeom prst="rect">
            <a:avLst/>
          </a:prstGeom>
          <a:solidFill>
            <a:srgbClr val="B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2642616"/>
            <a:ext cx="5056631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Architecture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017520"/>
            <a:ext cx="5038344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Architect + backend + DevOps + security</a:t>
            </a:r>
            <a:br/>
            <a:r>
              <a:t>ADRs, dependencies, failure modes</a:t>
            </a:r>
            <a:br/>
            <a:r>
              <a:t>45 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532888"/>
            <a:ext cx="5349240" cy="1024128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532888"/>
            <a:ext cx="64008" cy="1024128"/>
          </a:xfrm>
          <a:prstGeom prst="rect">
            <a:avLst/>
          </a:prstGeom>
          <a:solidFill>
            <a:srgbClr val="FFA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642616"/>
            <a:ext cx="5056631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Design critique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017520"/>
            <a:ext cx="5038344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Designer + PO + frontend + users</a:t>
            </a:r>
            <a:br/>
            <a:r>
              <a:t>Flows, prototypes, accessibility</a:t>
            </a:r>
            <a:br/>
            <a:r>
              <a:t>30–45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39896"/>
            <a:ext cx="5349240" cy="1024128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739896"/>
            <a:ext cx="64008" cy="1024128"/>
          </a:xfrm>
          <a:prstGeom prst="rect">
            <a:avLst/>
          </a:prstGeom>
          <a:solidFill>
            <a:srgbClr val="4D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849624"/>
            <a:ext cx="5056631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Pairing / swarm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" y="4224528"/>
            <a:ext cx="5038344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Relevant specialists</a:t>
            </a:r>
            <a:br/>
            <a:r>
              <a:t>Live debugging or complex task</a:t>
            </a:r>
            <a:br/>
            <a:r>
              <a:t>25–50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739896"/>
            <a:ext cx="5349240" cy="1024128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739896"/>
            <a:ext cx="64008" cy="1024128"/>
          </a:xfrm>
          <a:prstGeom prst="rect">
            <a:avLst/>
          </a:prstGeom>
          <a:solidFill>
            <a:srgbClr val="F4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3849624"/>
            <a:ext cx="5056631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QA triage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4224528"/>
            <a:ext cx="5038344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QA + developer + PM</a:t>
            </a:r>
            <a:br/>
            <a:r>
              <a:t>Repro steps, severity, owner</a:t>
            </a:r>
            <a:br/>
            <a:r>
              <a:t>30 min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946904"/>
            <a:ext cx="5349240" cy="1024128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946904"/>
            <a:ext cx="64008" cy="1024128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1" y="5056632"/>
            <a:ext cx="5056631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Demo / acceptance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" y="5431536"/>
            <a:ext cx="5038344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Whole team + stakeholders</a:t>
            </a:r>
            <a:br/>
            <a:r>
              <a:t>Working increment + evidence</a:t>
            </a:r>
            <a:br/>
            <a:r>
              <a:t>30 min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4946904"/>
            <a:ext cx="5349240" cy="1024128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4946904"/>
            <a:ext cx="64008" cy="1024128"/>
          </a:xfrm>
          <a:prstGeom prst="rect">
            <a:avLst/>
          </a:prstGeom>
          <a:solidFill>
            <a:srgbClr val="B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2" y="5056632"/>
            <a:ext cx="5056631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Retrospective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5431536"/>
            <a:ext cx="5038344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Whole team</a:t>
            </a:r>
            <a:br/>
            <a:r>
              <a:t>Keep / stop / start actions</a:t>
            </a:r>
            <a:br/>
            <a:r>
              <a:t>45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700" b="0">
                <a:solidFill>
                  <a:srgbClr val="A7B8CF"/>
                </a:solidFill>
                <a:latin typeface="Aptos"/>
              </a:defRPr>
            </a:pPr>
            <a:r>
              <a:t>AGENT FORGE  •  CONTRACT-DRIVEN AGENT ENGINEERING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A7B8CF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0F5FC"/>
                </a:solidFill>
                <a:latin typeface="Aptos"/>
              </a:defRPr>
            </a:pPr>
            <a:r>
              <a:t>The agent coordination meeting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The project manager runs a structured sync; agents bring evidence, not vague status.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30CDD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057400" cy="96012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FFA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1490472"/>
            <a:ext cx="19476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1. 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801368"/>
            <a:ext cx="1911095" cy="5394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Manager states goal + risks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417320"/>
            <a:ext cx="2057400" cy="96012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37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9544" y="1490472"/>
            <a:ext cx="19476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2. Round-robin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1801368"/>
            <a:ext cx="1911095" cy="5394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Each agent reports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17320"/>
            <a:ext cx="2057400" cy="96012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B0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9864" y="1490472"/>
            <a:ext cx="19476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3. Resolve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8152" y="1801368"/>
            <a:ext cx="1911095" cy="5394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Dependencies + conflicts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417320"/>
            <a:ext cx="2057400" cy="96012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4D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1490472"/>
            <a:ext cx="19476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4. Commit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1801368"/>
            <a:ext cx="1911095" cy="5394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Owners + due points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51760" y="1901952"/>
            <a:ext cx="457200" cy="0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212080" y="1901952"/>
            <a:ext cx="457200" cy="0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72400" y="1901952"/>
            <a:ext cx="457200" cy="0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" y="3154680"/>
            <a:ext cx="3291840" cy="123444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154680"/>
            <a:ext cx="64008" cy="1234440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3264408"/>
            <a:ext cx="29992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AGENT REPORT TEMPLATE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3639312"/>
            <a:ext cx="2980944" cy="6675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Status • completed artifact • evidence • blocker • next action • confidence.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154680"/>
            <a:ext cx="3291840" cy="123444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154680"/>
            <a:ext cx="64008" cy="1234440"/>
          </a:xfrm>
          <a:prstGeom prst="rect">
            <a:avLst/>
          </a:prstGeom>
          <a:solidFill>
            <a:srgbClr val="B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1" y="3264408"/>
            <a:ext cx="29992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DECISION 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1" y="3639312"/>
            <a:ext cx="2980944" cy="6675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Record decision, rationale, owner, date and impacted tasks.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154680"/>
            <a:ext cx="3291840" cy="123444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2440" y="3154680"/>
            <a:ext cx="64008" cy="1234440"/>
          </a:xfrm>
          <a:prstGeom prst="rect">
            <a:avLst/>
          </a:prstGeom>
          <a:solidFill>
            <a:srgbClr val="4D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57031" y="3264408"/>
            <a:ext cx="29992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MEETING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1" y="3639312"/>
            <a:ext cx="2980944" cy="6675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Updated task board, dependency graph, risks and next sync agenda.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400" b="1">
                <a:solidFill>
                  <a:srgbClr val="FFAE4E"/>
                </a:solidFill>
                <a:latin typeface="Aptos"/>
              </a:defRPr>
            </a:pPr>
            <a:r>
              <a:t>Keep meetings short and frequent; escalate unresolved technical conflicts to a focused workshop.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700" b="0">
                <a:solidFill>
                  <a:srgbClr val="A7B8CF"/>
                </a:solidFill>
                <a:latin typeface="Aptos"/>
              </a:defRPr>
            </a:pPr>
            <a:r>
              <a:t>AGENT FORGE  •  CONTRACT-DRIVEN AGENT ENGINEERING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A7B8CF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0F5FC"/>
                </a:solidFill>
                <a:latin typeface="Aptos"/>
              </a:defRPr>
            </a:pPr>
            <a:r>
              <a:t>Project workspace: one control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Left: project list • Center: manager conversation • Right: live agents and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30CDD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057400" cy="452628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64008" cy="4526280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35607"/>
            <a:ext cx="176479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1">
                <a:solidFill>
                  <a:srgbClr val="F0F5FC"/>
                </a:solidFill>
                <a:latin typeface="Aptos"/>
              </a:defRPr>
            </a:pPr>
            <a:r>
              <a:t>PROJECTS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10512"/>
            <a:ext cx="1746504" cy="3959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▣ Website</a:t>
            </a:r>
            <a:br/>
            <a:r>
              <a:t>▣ Mobile App</a:t>
            </a:r>
            <a:br/>
            <a:r>
              <a:t>▣ AgentForge Core</a:t>
            </a:r>
            <a:br/>
            <a:r>
              <a:t>▣ Game Prototype</a:t>
            </a:r>
            <a:br/>
            <a:br/>
            <a:r>
              <a:t>+ Create project</a:t>
            </a:r>
            <a:br/>
            <a:br/>
            <a:r>
              <a:t>Multi-select • Rename • Delete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1325880"/>
            <a:ext cx="5577840" cy="452628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97480" y="1325880"/>
            <a:ext cx="64008" cy="4526280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2072" y="1435607"/>
            <a:ext cx="5285231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1">
                <a:solidFill>
                  <a:srgbClr val="F0F5FC"/>
                </a:solidFill>
                <a:latin typeface="Aptos"/>
              </a:defRPr>
            </a:pPr>
            <a:r>
              <a:t>PROJECT MANAGER 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1810512"/>
            <a:ext cx="5266944" cy="3959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User: Add secure sign-in and account recovery.</a:t>
            </a:r>
            <a:br/>
            <a:br/>
            <a:r>
              <a:t>Manager: I will split this into API, UI, test and security tasks.</a:t>
            </a:r>
            <a:br/>
            <a:br/>
            <a:r>
              <a:t>Backend Agent: API endpoints and token validation implemented. Tests: 18/18 passed.</a:t>
            </a:r>
            <a:br/>
            <a:br/>
            <a:r>
              <a:t>Frontend Agent: Sign-in and reset flows ready for review.</a:t>
            </a:r>
            <a:br/>
            <a:br/>
            <a:r>
              <a:t>QA Agent: Two edge cases found; tickets opened.</a:t>
            </a:r>
            <a:br/>
            <a:br/>
            <a:r>
              <a:t>[ Attach image ]   [ Type a command… 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325880"/>
            <a:ext cx="3246120" cy="452628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1325880"/>
            <a:ext cx="64008" cy="4526280"/>
          </a:xfrm>
          <a:prstGeom prst="rect">
            <a:avLst/>
          </a:prstGeom>
          <a:solidFill>
            <a:srgbClr val="4D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1435607"/>
            <a:ext cx="295351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1">
                <a:solidFill>
                  <a:srgbClr val="F0F5FC"/>
                </a:solidFill>
                <a:latin typeface="Aptos"/>
              </a:defRPr>
            </a:pPr>
            <a:r>
              <a:t>RUNNING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1810512"/>
            <a:ext cx="2935224" cy="3959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● Manager — planning</a:t>
            </a:r>
            <a:br/>
            <a:r>
              <a:t>● Backend — coding</a:t>
            </a:r>
            <a:br/>
            <a:r>
              <a:t>● Frontend — coding</a:t>
            </a:r>
            <a:br/>
            <a:r>
              <a:t>● Designer — review</a:t>
            </a:r>
            <a:br/>
            <a:r>
              <a:t>● QA — testing</a:t>
            </a:r>
            <a:br/>
            <a:br/>
            <a:r>
              <a:t>Completed today: 7</a:t>
            </a:r>
            <a:br/>
            <a:r>
              <a:t>Blocked: 1</a:t>
            </a:r>
            <a:br/>
            <a:r>
              <a:t>Tokens / tools: live</a:t>
            </a:r>
            <a:br/>
            <a:br/>
            <a:r>
              <a:t>Select agent → details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700" b="0">
                <a:solidFill>
                  <a:srgbClr val="A7B8CF"/>
                </a:solidFill>
                <a:latin typeface="Aptos"/>
              </a:defRPr>
            </a:pPr>
            <a:r>
              <a:t>AGENT FORGE  •  CONTRACT-DRIVEN AGENT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A7B8CF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0F5FC"/>
                </a:solidFill>
                <a:latin typeface="Aptos"/>
              </a:defRPr>
            </a:pPr>
            <a:r>
              <a:t>Agent management: identity, skills,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Role and skills are fixed attributes; display name is system-managed and not editable.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30CDD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286000" cy="91440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37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490472"/>
            <a:ext cx="21762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1" y="1801368"/>
            <a:ext cx="2139696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Developer / QA / Designer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417320"/>
            <a:ext cx="2286000" cy="91440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30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00984" y="1490472"/>
            <a:ext cx="21762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1801368"/>
            <a:ext cx="2139696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Languages / tools / domain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1417320"/>
            <a:ext cx="2286000" cy="91440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B0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7024" y="1490472"/>
            <a:ext cx="21762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Hierarchy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5312" y="1801368"/>
            <a:ext cx="2139696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Supervisor / peers / reports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1417320"/>
            <a:ext cx="2286000" cy="91440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4D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13064" y="1490472"/>
            <a:ext cx="21762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1801368"/>
            <a:ext cx="2139696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Feedback + approved memory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71800"/>
            <a:ext cx="3383280" cy="13716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971800"/>
            <a:ext cx="64008" cy="1371600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081528"/>
            <a:ext cx="30906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CREATE / ASSIGN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456432"/>
            <a:ext cx="3072384" cy="8046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Search role catalog; create a specialist if none fits; attach to project.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971800"/>
            <a:ext cx="3383280" cy="13716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2971800"/>
            <a:ext cx="64008" cy="1371600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3081528"/>
            <a:ext cx="30906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456432"/>
            <a:ext cx="3072384" cy="8046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Status, mission, tool calls, token usage, artifacts and blockers.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2971800"/>
            <a:ext cx="3383280" cy="13716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2971800"/>
            <a:ext cx="64008" cy="1371600"/>
          </a:xfrm>
          <a:prstGeom prst="rect">
            <a:avLst/>
          </a:prstGeom>
          <a:solidFill>
            <a:srgbClr val="4D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3081528"/>
            <a:ext cx="30906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IMPROVE SAFELY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3456432"/>
            <a:ext cx="3072384" cy="8046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Curate lessons into versioned playbooks; evaluate before promoting changes.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074920"/>
            <a:ext cx="1014984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500" b="1">
                <a:solidFill>
                  <a:srgbClr val="FFAE4E"/>
                </a:solidFill>
                <a:latin typeface="Aptos"/>
              </a:defRPr>
            </a:pPr>
            <a:r>
              <a:t>Never let an agent silently rewrite its own permissions, identity, or production policy.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700" b="0">
                <a:solidFill>
                  <a:srgbClr val="A7B8CF"/>
                </a:solidFill>
                <a:latin typeface="Aptos"/>
              </a:defRPr>
            </a:pPr>
            <a:r>
              <a:t>AGENT FORGE  •  CONTRACT-DRIVEN AGENT 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A7B8CF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0F5FC"/>
                </a:solidFill>
                <a:latin typeface="Aptos"/>
              </a:defRPr>
            </a:pPr>
            <a:r>
              <a:t>A task contract: the unit of reliable delegation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Use a structured contract in the orchestrator instead of passing vague prompts.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30CDDC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6675120" cy="4983480"/>
          </a:xfrm>
          <a:prstGeom prst="roundRect">
            <a:avLst/>
          </a:prstGeom>
          <a:solidFill>
            <a:srgbClr val="070D19"/>
          </a:solidFill>
          <a:ln>
            <a:solidFill>
              <a:srgbClr val="37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6217920" cy="4526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30CDDC"/>
                </a:solidFill>
                <a:latin typeface="Consolas"/>
              </a:defRPr>
            </a:pPr>
            <a:r>
              <a:t>{</a:t>
            </a:r>
            <a:br/>
            <a:r>
              <a:t>  "task_id": "AUTH-042",</a:t>
            </a:r>
            <a:br/>
            <a:r>
              <a:t>  "project_id": "agentforge",</a:t>
            </a:r>
            <a:br/>
            <a:r>
              <a:t>  "role": "backend_developer",</a:t>
            </a:r>
            <a:br/>
            <a:r>
              <a:t>  "goal": "Implement password-reset API",</a:t>
            </a:r>
            <a:br/>
            <a:r>
              <a:t>  "inputs": ["API_SPEC.md", "auth_schema.sql"],</a:t>
            </a:r>
            <a:br/>
            <a:r>
              <a:t>  "constraints": ["Do not log secrets", "Keep API backward-compatible"],</a:t>
            </a:r>
            <a:br/>
            <a:r>
              <a:t>  "dependencies": ["AUTH-031"],</a:t>
            </a:r>
            <a:br/>
            <a:r>
              <a:t>  "outputs": ["src/auth/reset.ts", "tests/reset.test.ts"],</a:t>
            </a:r>
            <a:br/>
            <a:r>
              <a:t>  "acceptance": [</a:t>
            </a:r>
            <a:br/>
            <a:r>
              <a:t>    "Valid token resets password",</a:t>
            </a:r>
            <a:br/>
            <a:r>
              <a:t>    "Expired token is rejected",</a:t>
            </a:r>
            <a:br/>
            <a:r>
              <a:t>    "Rate limit is enforced",</a:t>
            </a:r>
            <a:br/>
            <a:r>
              <a:t>    "All tests pass"</a:t>
            </a:r>
            <a:br/>
            <a:r>
              <a:t>  ],</a:t>
            </a:r>
            <a:br/>
            <a:r>
              <a:t>  "report_to": "engineering_lead",</a:t>
            </a:r>
            <a:br/>
            <a:r>
              <a:t>  "status": "assigned"</a:t>
            </a:r>
            <a:br/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417320"/>
            <a:ext cx="3566160" cy="105156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26679" y="1417320"/>
            <a:ext cx="64008" cy="1051560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91271" y="1527048"/>
            <a:ext cx="32735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WHY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1271" y="1901952"/>
            <a:ext cx="3255264" cy="48463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Bounded scope reduces ambiguity.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697480"/>
            <a:ext cx="3566160" cy="105156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26679" y="2697480"/>
            <a:ext cx="64008" cy="1051560"/>
          </a:xfrm>
          <a:prstGeom prst="rect">
            <a:avLst/>
          </a:prstGeom>
          <a:solidFill>
            <a:srgbClr val="B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91271" y="2807208"/>
            <a:ext cx="32735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WHY IT SCALES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1271" y="3182112"/>
            <a:ext cx="3255264" cy="48463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Contracts make tasks routable and auditable.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3977639"/>
            <a:ext cx="3566160" cy="105156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79" y="3977639"/>
            <a:ext cx="64008" cy="1051560"/>
          </a:xfrm>
          <a:prstGeom prst="rect">
            <a:avLst/>
          </a:prstGeom>
          <a:solidFill>
            <a:srgbClr val="4D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91271" y="4087368"/>
            <a:ext cx="32735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WHY IT IS SAFE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1" y="4462272"/>
            <a:ext cx="3255264" cy="48463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Acceptance checks stop unsupported “done” claims.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700" b="0">
                <a:solidFill>
                  <a:srgbClr val="A7B8CF"/>
                </a:solidFill>
                <a:latin typeface="Aptos"/>
              </a:defRPr>
            </a:pPr>
            <a:r>
              <a:t>AGENT FORGE  •  CONTRACT-DRIVEN AGENT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A7B8CF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0F5FC"/>
                </a:solidFill>
                <a:latin typeface="Aptos"/>
              </a:defRPr>
            </a:pPr>
            <a:r>
              <a:t>Reference 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Recommended stack for the requested web-based agent operations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30CDDC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143000"/>
            <a:ext cx="3200400" cy="68580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37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35424" y="1216152"/>
            <a:ext cx="30906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Web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53712" y="1527048"/>
            <a:ext cx="3054096" cy="2651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React / Next.js + TypeScript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240280"/>
            <a:ext cx="3200400" cy="68580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30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2313432"/>
            <a:ext cx="30906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Backend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624328"/>
            <a:ext cx="3054096" cy="2651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Node.js + TypeScript (NestJS)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03320"/>
            <a:ext cx="2331720" cy="77724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4D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3776472"/>
            <a:ext cx="2221991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4087368"/>
            <a:ext cx="2185415" cy="356615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Projects, users, tasks,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3703320"/>
            <a:ext cx="2331720" cy="77724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FFA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92424" y="3776472"/>
            <a:ext cx="2221991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Redis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4087368"/>
            <a:ext cx="2185415" cy="356615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Queues, locks, live 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3703320"/>
            <a:ext cx="2331720" cy="77724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B0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44183" y="3776472"/>
            <a:ext cx="2221991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Object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62472" y="4087368"/>
            <a:ext cx="2185415" cy="356615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Artifacts, images, logs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3703320"/>
            <a:ext cx="2331720" cy="77724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37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95944" y="3776472"/>
            <a:ext cx="2221991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Agent Runtime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4232" y="4087368"/>
            <a:ext cx="2185415" cy="356615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Claude Code + tool adapters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1828800"/>
            <a:ext cx="0" cy="411480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847088" y="2926080"/>
            <a:ext cx="4233672" cy="777240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4498848" y="2926080"/>
            <a:ext cx="1581912" cy="777240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80760" y="2926080"/>
            <a:ext cx="1069848" cy="777240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80760" y="2926080"/>
            <a:ext cx="3721608" cy="777240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7240" y="4983480"/>
            <a:ext cx="3291840" cy="82296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4983480"/>
            <a:ext cx="64008" cy="822960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093208"/>
            <a:ext cx="29992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WHY TYPESCRIPT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" y="5468112"/>
            <a:ext cx="298094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Shared types across UI, API and orchestration.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4983480"/>
            <a:ext cx="3291840" cy="82296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34840" y="4983480"/>
            <a:ext cx="64008" cy="822960"/>
          </a:xfrm>
          <a:prstGeom prst="rect">
            <a:avLst/>
          </a:prstGeom>
          <a:solidFill>
            <a:srgbClr val="4D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9431" y="5093208"/>
            <a:ext cx="29992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WHY POSTGRESQL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9431" y="5468112"/>
            <a:ext cx="298094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Relational integrity for tasks, projects and audit history.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4983480"/>
            <a:ext cx="3291840" cy="82296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92440" y="4983480"/>
            <a:ext cx="64008" cy="822960"/>
          </a:xfrm>
          <a:prstGeom prst="rect">
            <a:avLst/>
          </a:prstGeom>
          <a:solidFill>
            <a:srgbClr val="FFA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57031" y="5093208"/>
            <a:ext cx="29992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WHY REDIS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7031" y="5468112"/>
            <a:ext cx="298094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Fast coordination, queueing and ephemeral state.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700" b="0">
                <a:solidFill>
                  <a:srgbClr val="A7B8CF"/>
                </a:solidFill>
                <a:latin typeface="Aptos"/>
              </a:defRPr>
            </a:pPr>
            <a:r>
              <a:t>AGENT FORGE  •  CONTRACT-DRIVEN AGENT ENGINEERING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A7B8CF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0F5FC"/>
                </a:solidFill>
                <a:latin typeface="Aptos"/>
              </a:defRPr>
            </a:pPr>
            <a:r>
              <a:t>Agent runtime: tools, permissions and traceability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Treat every agent as a controlled worker, not an unrestricted shell process.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30CDDC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2103120" cy="91440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FFA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1536192"/>
            <a:ext cx="1993391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Orchestrator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847088"/>
            <a:ext cx="1956815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Task + policy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463040"/>
            <a:ext cx="2103120" cy="91440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37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9544" y="1536192"/>
            <a:ext cx="1993391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Agent worker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1847088"/>
            <a:ext cx="1956815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Prompt +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63040"/>
            <a:ext cx="2103120" cy="91440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30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9864" y="1536192"/>
            <a:ext cx="1993391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Tool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8152" y="1847088"/>
            <a:ext cx="1956815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Allow-listed 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463040"/>
            <a:ext cx="2103120" cy="91440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B0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1536192"/>
            <a:ext cx="1993391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Workspace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1847088"/>
            <a:ext cx="1956815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Isolated repo / branch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97480" y="1920240"/>
            <a:ext cx="457200" cy="0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257800" y="1920240"/>
            <a:ext cx="457200" cy="0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18120" y="1920240"/>
            <a:ext cx="457200" cy="0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1520" y="3154680"/>
            <a:ext cx="3383280" cy="132588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154680"/>
            <a:ext cx="64008" cy="1325880"/>
          </a:xfrm>
          <a:prstGeom prst="rect">
            <a:avLst/>
          </a:prstGeom>
          <a:solidFill>
            <a:srgbClr val="4D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264408"/>
            <a:ext cx="30906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LEAST PRIVILEGE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3639312"/>
            <a:ext cx="3072384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Read-only by default; scoped write access; explicit approval for deploy and destructive actions.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154680"/>
            <a:ext cx="3383280" cy="132588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154680"/>
            <a:ext cx="64008" cy="1325880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3264408"/>
            <a:ext cx="30906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OBSERVABILITY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3639312"/>
            <a:ext cx="3072384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Log prompt/version, model, tool calls, latency, token cost, output and reviewer.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154680"/>
            <a:ext cx="3383280" cy="132588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3154680"/>
            <a:ext cx="64008" cy="1325880"/>
          </a:xfrm>
          <a:prstGeom prst="rect">
            <a:avLst/>
          </a:prstGeom>
          <a:solidFill>
            <a:srgbClr val="FFA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11312" y="3264408"/>
            <a:ext cx="309067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RECOVERY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2" y="3639312"/>
            <a:ext cx="3072384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Timeouts, retries, idempotency, cancellation and human takeover.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400" b="1">
                <a:solidFill>
                  <a:srgbClr val="F46973"/>
                </a:solidFill>
                <a:latin typeface="Aptos"/>
              </a:defRPr>
            </a:pPr>
            <a:r>
              <a:t>Never expose raw production secrets to prompts or store credentials in agent-visible files.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700" b="0">
                <a:solidFill>
                  <a:srgbClr val="A7B8CF"/>
                </a:solidFill>
                <a:latin typeface="Aptos"/>
              </a:defRPr>
            </a:pPr>
            <a:r>
              <a:t>AGENT FORGE  •  CONTRACT-DRIVEN AGENT ENGINEERING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A7B8CF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0F5FC"/>
                </a:solidFill>
                <a:latin typeface="Aptos"/>
              </a:defRPr>
            </a:pPr>
            <a:r>
              <a:t>GitHub integration and safe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Every approved change is traceable; every restart is guarded by health checks.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30CDDC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920240" cy="91440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37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1490472"/>
            <a:ext cx="181051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Agent branch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801368"/>
            <a:ext cx="1773936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Feature branch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417320"/>
            <a:ext cx="1920240" cy="91440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30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35224" y="1490472"/>
            <a:ext cx="181051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Pull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3512" y="1801368"/>
            <a:ext cx="1773936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Diff + summary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1417320"/>
            <a:ext cx="1920240" cy="91440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B0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21224" y="1490472"/>
            <a:ext cx="181051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CI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1801368"/>
            <a:ext cx="1773936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Lint / test / scan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1417320"/>
            <a:ext cx="1920240" cy="91440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FFA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07224" y="1490472"/>
            <a:ext cx="181051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Human 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1801368"/>
            <a:ext cx="1773936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Review + merge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60" y="1417320"/>
            <a:ext cx="1920240" cy="91440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4D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93224" y="1490472"/>
            <a:ext cx="181051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1512" y="1801368"/>
            <a:ext cx="1773936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Health-check restart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14600" y="1874519"/>
            <a:ext cx="365760" cy="0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800600" y="1874519"/>
            <a:ext cx="365760" cy="0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86600" y="1874519"/>
            <a:ext cx="365760" cy="0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372600" y="1874519"/>
            <a:ext cx="365760" cy="0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77240" y="3154680"/>
            <a:ext cx="3337560" cy="132588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3154680"/>
            <a:ext cx="64008" cy="1325880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3264408"/>
            <a:ext cx="30449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AUTOMATIC SYNC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3639312"/>
            <a:ext cx="3026664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Push project updates to GitHub through commits and pull requests; avoid direct main-branch writes.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154680"/>
            <a:ext cx="3337560" cy="132588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34840" y="3154680"/>
            <a:ext cx="64008" cy="1325880"/>
          </a:xfrm>
          <a:prstGeom prst="rect">
            <a:avLst/>
          </a:prstGeom>
          <a:solidFill>
            <a:srgbClr val="4D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9431" y="3264408"/>
            <a:ext cx="30449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SAFE RESTART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1" y="3639312"/>
            <a:ext cx="3026664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Build → backup/config check → restart → readiness probe → rollback on failure.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3154680"/>
            <a:ext cx="3337560" cy="132588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92440" y="3154680"/>
            <a:ext cx="64008" cy="1325880"/>
          </a:xfrm>
          <a:prstGeom prst="rect">
            <a:avLst/>
          </a:prstGeom>
          <a:solidFill>
            <a:srgbClr val="FFA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57031" y="3264408"/>
            <a:ext cx="304495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PROTECTED CORE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1" y="3639312"/>
            <a:ext cx="3026664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AgentForge itself is a protected project; no delete action, restricted deploy permissions.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700" b="0">
                <a:solidFill>
                  <a:srgbClr val="A7B8CF"/>
                </a:solidFill>
                <a:latin typeface="Aptos"/>
              </a:defRPr>
            </a:pPr>
            <a:r>
              <a:t>AGENT FORGE  •  CONTRACT-DRIVEN AGENT ENGINEERING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A7B8CF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0F5FC"/>
                </a:solidFill>
                <a:latin typeface="Aptos"/>
              </a:defRPr>
            </a:pPr>
            <a:r>
              <a:t>Developer workspace: files, terminal and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Treat file operations and model usage as first-class engineering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30CDDC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520440" cy="146304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64008" cy="1463040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481328"/>
            <a:ext cx="32278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FILE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56232"/>
            <a:ext cx="3209544" cy="8961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Tree + type icons • multi-select • create/copy/move/delete • drag/drop • preview/edit • Markdown rendering • split panes.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520440" cy="146304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64008" cy="1463040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481328"/>
            <a:ext cx="32278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856232"/>
            <a:ext cx="3209544" cy="8961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Path-aware shell • tab completion • multiple terminals • closeable tabs • resizable panes • command history.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520440" cy="146304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64008" cy="1463040"/>
          </a:xfrm>
          <a:prstGeom prst="rect">
            <a:avLst/>
          </a:prstGeom>
          <a:solidFill>
            <a:srgbClr val="B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481328"/>
            <a:ext cx="32278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MODEL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856232"/>
            <a:ext cx="3209544" cy="8961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Claude Code default • add/remove providers • daily/weekly tokens • reset time • usage and cost.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246120"/>
            <a:ext cx="5074920" cy="201168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246120"/>
            <a:ext cx="64008" cy="2011680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355848"/>
            <a:ext cx="478231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FILE TREE + PREVIEW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3730752"/>
            <a:ext cx="4764024" cy="1444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📁 src</a:t>
            </a:r>
            <a:br/>
            <a:r>
              <a:t>  📁 agents</a:t>
            </a:r>
            <a:br/>
            <a:r>
              <a:t>  📄 orchestrator.ts</a:t>
            </a:r>
            <a:br/>
            <a:r>
              <a:t>  📄 task-contract.ts</a:t>
            </a:r>
            <a:br/>
            <a:r>
              <a:t>📄 README.md</a:t>
            </a:r>
            <a:br/>
            <a:br/>
            <a:r>
              <a:t>Preview uses syntax highlighting; Markdown uses rendered 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246120"/>
            <a:ext cx="5074920" cy="201168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246120"/>
            <a:ext cx="64008" cy="2011680"/>
          </a:xfrm>
          <a:prstGeom prst="rect">
            <a:avLst/>
          </a:prstGeom>
          <a:solidFill>
            <a:srgbClr val="B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3355848"/>
            <a:ext cx="478231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MODEL USAGE PANEL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3730752"/>
            <a:ext cx="4764024" cy="1444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Model | Today | Week | Tokens | Reset</a:t>
            </a:r>
            <a:br/>
            <a:r>
              <a:t>Claude Code | usage meter | tokens</a:t>
            </a:r>
            <a:br/>
            <a:r>
              <a:t>Other models | usage meter | tokens</a:t>
            </a:r>
            <a:br/>
            <a:br/>
            <a:r>
              <a:t>Show units, timezone and reset countdown consistently.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700" b="0">
                <a:solidFill>
                  <a:srgbClr val="A7B8CF"/>
                </a:solidFill>
                <a:latin typeface="Aptos"/>
              </a:defRPr>
            </a:pPr>
            <a:r>
              <a:t>AGENT FORGE  •  CONTRACT-DRIVEN AGENT ENGINEERING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A7B8CF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0F5FC"/>
                </a:solidFill>
                <a:latin typeface="Aptos"/>
              </a:defRPr>
            </a:pPr>
            <a:r>
              <a:t>Core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Keep the operational record relational; store large artifacts separately.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30CDDC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11430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143000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435607"/>
            <a:ext cx="318211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1">
                <a:solidFill>
                  <a:srgbClr val="F0F5FC"/>
                </a:solidFill>
                <a:latin typeface="Aptos"/>
              </a:defRPr>
            </a:pPr>
            <a:r>
              <a:t>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10512"/>
            <a:ext cx="3163824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A7B8CF"/>
                </a:solidFill>
                <a:latin typeface="Aptos"/>
              </a:defRPr>
            </a:pPr>
            <a:r>
              <a:t>id, name, repo_url, root_path, protected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25880"/>
            <a:ext cx="3474720" cy="11430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325880"/>
            <a:ext cx="64008" cy="1143000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435607"/>
            <a:ext cx="318211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1">
                <a:solidFill>
                  <a:srgbClr val="F0F5FC"/>
                </a:solidFill>
                <a:latin typeface="Aptos"/>
              </a:defRPr>
            </a:pPr>
            <a: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1810512"/>
            <a:ext cx="3163824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A7B8CF"/>
                </a:solidFill>
                <a:latin typeface="Aptos"/>
              </a:defRPr>
            </a:pPr>
            <a:r>
              <a:t>id, role, skills, model_id, supervisor_id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325880"/>
            <a:ext cx="3474720" cy="11430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325880"/>
            <a:ext cx="64008" cy="1143000"/>
          </a:xfrm>
          <a:prstGeom prst="rect">
            <a:avLst/>
          </a:prstGeom>
          <a:solidFill>
            <a:srgbClr val="B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1435607"/>
            <a:ext cx="318211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1">
                <a:solidFill>
                  <a:srgbClr val="F0F5FC"/>
                </a:solidFill>
                <a:latin typeface="Aptos"/>
              </a:defRPr>
            </a:pPr>
            <a:r>
              <a:t>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1810512"/>
            <a:ext cx="3163824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A7B8CF"/>
                </a:solidFill>
                <a:latin typeface="Aptos"/>
              </a:defRPr>
            </a:pPr>
            <a:r>
              <a:t>id, project_id, parent_id, owner_id, contract, 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43200"/>
            <a:ext cx="3474720" cy="11430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743200"/>
            <a:ext cx="64008" cy="1143000"/>
          </a:xfrm>
          <a:prstGeom prst="rect">
            <a:avLst/>
          </a:prstGeom>
          <a:solidFill>
            <a:srgbClr val="4D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2852928"/>
            <a:ext cx="318211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1">
                <a:solidFill>
                  <a:srgbClr val="F0F5FC"/>
                </a:solidFill>
                <a:latin typeface="Aptos"/>
              </a:defRPr>
            </a:pPr>
            <a:r>
              <a:t>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3227832"/>
            <a:ext cx="3163824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A7B8CF"/>
                </a:solidFill>
                <a:latin typeface="Aptos"/>
              </a:defRPr>
            </a:pPr>
            <a:r>
              <a:t>id, task_id, model, tokens, duration, trace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2743200"/>
            <a:ext cx="3474720" cy="11430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2743200"/>
            <a:ext cx="64008" cy="1143000"/>
          </a:xfrm>
          <a:prstGeom prst="rect">
            <a:avLst/>
          </a:prstGeom>
          <a:solidFill>
            <a:srgbClr val="FFA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5152" y="2852928"/>
            <a:ext cx="318211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1">
                <a:solidFill>
                  <a:srgbClr val="F0F5FC"/>
                </a:solidFill>
                <a:latin typeface="Aptos"/>
              </a:defRPr>
            </a:pPr>
            <a:r>
              <a:t>Artifact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3227832"/>
            <a:ext cx="3163824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A7B8CF"/>
                </a:solidFill>
                <a:latin typeface="Aptos"/>
              </a:defRPr>
            </a:pPr>
            <a:r>
              <a:t>id, task_id, uri, checksum, version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2743200"/>
            <a:ext cx="3474720" cy="11430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2743200"/>
            <a:ext cx="64008" cy="1143000"/>
          </a:xfrm>
          <a:prstGeom prst="rect">
            <a:avLst/>
          </a:prstGeom>
          <a:solidFill>
            <a:srgbClr val="F4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85632" y="2852928"/>
            <a:ext cx="318211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1">
                <a:solidFill>
                  <a:srgbClr val="F0F5FC"/>
                </a:solidFill>
                <a:latin typeface="Aptos"/>
              </a:defRPr>
            </a:pPr>
            <a:r>
              <a:t>Meeting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3227832"/>
            <a:ext cx="3163824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A7B8CF"/>
                </a:solidFill>
                <a:latin typeface="Aptos"/>
              </a:defRPr>
            </a:pPr>
            <a:r>
              <a:t>id, project_id, agenda, decisions, actions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160520"/>
            <a:ext cx="3474720" cy="114300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160520"/>
            <a:ext cx="64008" cy="1143000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1" y="4270248"/>
            <a:ext cx="318211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1">
                <a:solidFill>
                  <a:srgbClr val="F0F5FC"/>
                </a:solidFill>
                <a:latin typeface="Aptos"/>
              </a:defRPr>
            </a:pPr>
            <a:r>
              <a:t>AuditEvent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" y="4645152"/>
            <a:ext cx="3163824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A7B8CF"/>
                </a:solidFill>
                <a:latin typeface="Aptos"/>
              </a:defRPr>
            </a:pPr>
            <a:r>
              <a:t>actor, action, target, timestamp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806440"/>
            <a:ext cx="103327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30CDDC"/>
                </a:solidFill>
                <a:latin typeface="Aptos"/>
              </a:defRPr>
            </a:pPr>
            <a:r>
              <a:t>Use migrations, foreign keys, indexes, soft-delete policy and immutable audit events for critical actions.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700" b="0">
                <a:solidFill>
                  <a:srgbClr val="A7B8CF"/>
                </a:solidFill>
                <a:latin typeface="Aptos"/>
              </a:defRPr>
            </a:pPr>
            <a:r>
              <a:t>AGENT FORGE  •  CONTRACT-DRIVEN AGENT ENGINEERING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A7B8CF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0F5FC"/>
                </a:solidFill>
                <a:latin typeface="Aptos"/>
              </a:defRPr>
            </a:pPr>
            <a: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Deliver a dependable control plane before adding advanced autonomy.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30CDDC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80160"/>
            <a:ext cx="2240280" cy="292608"/>
          </a:xfrm>
          <a:prstGeom prst="round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03019"/>
            <a:ext cx="2185416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1">
                <a:solidFill>
                  <a:srgbClr val="F0F5FC"/>
                </a:solidFill>
                <a:latin typeface="Aptos"/>
              </a:defRPr>
            </a:pPr>
            <a:r>
              <a:t>PHASE 1 •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298448"/>
            <a:ext cx="7955279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F0F5FC"/>
                </a:solidFill>
                <a:latin typeface="Aptos"/>
              </a:defRPr>
            </a:pPr>
            <a:r>
              <a:t>Auth, projects, protected AgentForge project, dashboard, PostgreSQL schema.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48255"/>
            <a:ext cx="2240280" cy="292608"/>
          </a:xfrm>
          <a:prstGeom prst="round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71115"/>
            <a:ext cx="2185416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1">
                <a:solidFill>
                  <a:srgbClr val="F0F5FC"/>
                </a:solidFill>
                <a:latin typeface="Aptos"/>
              </a:defRPr>
            </a:pPr>
            <a:r>
              <a:t>PHASE 2 • AGENT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066543"/>
            <a:ext cx="7955279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F0F5FC"/>
                </a:solidFill>
                <a:latin typeface="Aptos"/>
              </a:defRPr>
            </a:pPr>
            <a:r>
              <a:t>Agent registry, roles/skills, hierarchy, task contracts, run status.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16352"/>
            <a:ext cx="2240280" cy="292608"/>
          </a:xfrm>
          <a:prstGeom prst="roundRect">
            <a:avLst/>
          </a:prstGeom>
          <a:solidFill>
            <a:srgbClr val="B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839212"/>
            <a:ext cx="2185416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1">
                <a:solidFill>
                  <a:srgbClr val="F0F5FC"/>
                </a:solidFill>
                <a:latin typeface="Aptos"/>
              </a:defRPr>
            </a:pPr>
            <a:r>
              <a:t>PHASE 3 •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834640"/>
            <a:ext cx="7955279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F0F5FC"/>
                </a:solidFill>
                <a:latin typeface="Aptos"/>
              </a:defRPr>
            </a:pPr>
            <a:r>
              <a:t>Project chat, image attachments, file manager, terminal, split panes.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84448"/>
            <a:ext cx="2240280" cy="292608"/>
          </a:xfrm>
          <a:prstGeom prst="roundRect">
            <a:avLst/>
          </a:prstGeom>
          <a:solidFill>
            <a:srgbClr val="FFA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607308"/>
            <a:ext cx="2185416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1">
                <a:solidFill>
                  <a:srgbClr val="F0F5FC"/>
                </a:solidFill>
                <a:latin typeface="Aptos"/>
              </a:defRPr>
            </a:pPr>
            <a:r>
              <a:t>PHASE 4 • MODEL + 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602736"/>
            <a:ext cx="7955279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F0F5FC"/>
                </a:solidFill>
                <a:latin typeface="Aptos"/>
              </a:defRPr>
            </a:pPr>
            <a:r>
              <a:t>Provider adapters, usage meters, branch/PR workflow, CI checks.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352544"/>
            <a:ext cx="2240280" cy="292608"/>
          </a:xfrm>
          <a:prstGeom prst="roundRect">
            <a:avLst/>
          </a:prstGeom>
          <a:solidFill>
            <a:srgbClr val="4D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375404"/>
            <a:ext cx="2185416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1">
                <a:solidFill>
                  <a:srgbClr val="F0F5FC"/>
                </a:solidFill>
                <a:latin typeface="Aptos"/>
              </a:defRPr>
            </a:pPr>
            <a:r>
              <a:t>PHASE 5 •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370831"/>
            <a:ext cx="7955279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F0F5FC"/>
                </a:solidFill>
                <a:latin typeface="Aptos"/>
              </a:defRPr>
            </a:pPr>
            <a:r>
              <a:t>Meetings, audit, metrics, deployment health checks, rollback.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120640"/>
            <a:ext cx="2240280" cy="292608"/>
          </a:xfrm>
          <a:prstGeom prst="roundRect">
            <a:avLst/>
          </a:prstGeom>
          <a:solidFill>
            <a:srgbClr val="F4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143500"/>
            <a:ext cx="2185416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1">
                <a:solidFill>
                  <a:srgbClr val="F0F5FC"/>
                </a:solidFill>
                <a:latin typeface="Aptos"/>
              </a:defRPr>
            </a:pPr>
            <a:r>
              <a:t>PHASE 6 •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5138927"/>
            <a:ext cx="7955279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F0F5FC"/>
                </a:solidFill>
                <a:latin typeface="Aptos"/>
              </a:defRPr>
            </a:pPr>
            <a:r>
              <a:t>Curated memory, agent evaluations, playbook versioning, controlled improvement.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700" b="0">
                <a:solidFill>
                  <a:srgbClr val="A7B8CF"/>
                </a:solidFill>
                <a:latin typeface="Aptos"/>
              </a:defRPr>
            </a:pPr>
            <a:r>
              <a:t>AGENT FORGE  •  CONTRACT-DRIVEN AGENT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A7B8CF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0F5FC"/>
                </a:solidFill>
                <a:latin typeface="Aptos"/>
              </a:defRPr>
            </a:pPr>
            <a:r>
              <a:t>How we know the agent organization is 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Measure delivery quality and coordination—not just the number of agents.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30CDDC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606040" cy="141732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64008" cy="1417320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18488"/>
            <a:ext cx="23134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Lead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93391"/>
            <a:ext cx="2295144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A7B8CF"/>
                </a:solidFill>
                <a:latin typeface="Aptos"/>
              </a:defRPr>
            </a:pPr>
            <a:r>
              <a:t>Request → accepted change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508760"/>
            <a:ext cx="2606040" cy="141732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508760"/>
            <a:ext cx="64008" cy="1417320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0752" y="1618488"/>
            <a:ext cx="23134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First-pass acceptance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1993391"/>
            <a:ext cx="2295144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A7B8CF"/>
                </a:solidFill>
                <a:latin typeface="Aptos"/>
              </a:defRPr>
            </a:pPr>
            <a:r>
              <a:t>Tasks accepted without rework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508760"/>
            <a:ext cx="2606040" cy="141732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1508760"/>
            <a:ext cx="64008" cy="1417320"/>
          </a:xfrm>
          <a:prstGeom prst="rect">
            <a:avLst/>
          </a:prstGeom>
          <a:solidFill>
            <a:srgbClr val="B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618488"/>
            <a:ext cx="23134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Defect escape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1993391"/>
            <a:ext cx="2295144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A7B8CF"/>
                </a:solidFill>
                <a:latin typeface="Aptos"/>
              </a:defRPr>
            </a:pPr>
            <a:r>
              <a:t>Issues found after release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508760"/>
            <a:ext cx="2606040" cy="141732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26880" y="1508760"/>
            <a:ext cx="64008" cy="1417320"/>
          </a:xfrm>
          <a:prstGeom prst="rect">
            <a:avLst/>
          </a:prstGeom>
          <a:solidFill>
            <a:srgbClr val="FFA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91472" y="1618488"/>
            <a:ext cx="23134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Blocked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1993391"/>
            <a:ext cx="2295144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A7B8CF"/>
                </a:solidFill>
                <a:latin typeface="Aptos"/>
              </a:defRPr>
            </a:pPr>
            <a:r>
              <a:t>Time waiting on dependencies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383279"/>
            <a:ext cx="2606040" cy="141732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383279"/>
            <a:ext cx="64008" cy="1417320"/>
          </a:xfrm>
          <a:prstGeom prst="rect">
            <a:avLst/>
          </a:prstGeom>
          <a:solidFill>
            <a:srgbClr val="4D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3493008"/>
            <a:ext cx="23134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Agent cost per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3867911"/>
            <a:ext cx="2295144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A7B8CF"/>
                </a:solidFill>
                <a:latin typeface="Aptos"/>
              </a:defRPr>
            </a:pPr>
            <a:r>
              <a:t>Tokens + runtime per accepted task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3383279"/>
            <a:ext cx="2606040" cy="141732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66160" y="3383279"/>
            <a:ext cx="64008" cy="1417320"/>
          </a:xfrm>
          <a:prstGeom prst="rect">
            <a:avLst/>
          </a:prstGeom>
          <a:solidFill>
            <a:srgbClr val="F4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0752" y="3493008"/>
            <a:ext cx="23134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Review latency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30752" y="3867911"/>
            <a:ext cx="2295144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A7B8CF"/>
                </a:solidFill>
                <a:latin typeface="Aptos"/>
              </a:defRPr>
            </a:pPr>
            <a:r>
              <a:t>Time from ready → reviewed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3383279"/>
            <a:ext cx="2606040" cy="141732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46520" y="3383279"/>
            <a:ext cx="64008" cy="1417320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11112" y="3493008"/>
            <a:ext cx="23134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Meeting action closure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1112" y="3867911"/>
            <a:ext cx="2295144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A7B8CF"/>
                </a:solidFill>
                <a:latin typeface="Aptos"/>
              </a:defRPr>
            </a:pPr>
            <a:r>
              <a:t>Actions completed by due date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26880" y="3383279"/>
            <a:ext cx="2606040" cy="141732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26880" y="3383279"/>
            <a:ext cx="64008" cy="1417320"/>
          </a:xfrm>
          <a:prstGeom prst="rect">
            <a:avLst/>
          </a:prstGeom>
          <a:solidFill>
            <a:srgbClr val="B0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1472" y="3493008"/>
            <a:ext cx="23134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F0F5FC"/>
                </a:solidFill>
                <a:latin typeface="Aptos"/>
              </a:defRPr>
            </a:pPr>
            <a:r>
              <a:t>Deployment recovery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91472" y="3867911"/>
            <a:ext cx="2295144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A7B8CF"/>
                </a:solidFill>
                <a:latin typeface="Aptos"/>
              </a:defRPr>
            </a:pPr>
            <a:r>
              <a:t>Time to restore service after failure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623560"/>
            <a:ext cx="101498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300" b="1">
                <a:solidFill>
                  <a:srgbClr val="FFAE4E"/>
                </a:solidFill>
                <a:latin typeface="Aptos"/>
              </a:defRPr>
            </a:pPr>
            <a:r>
              <a:t>Baseline first; set targets after 2–3 delivery cycles. Never optimize token cost at the expense of quality.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700" b="0">
                <a:solidFill>
                  <a:srgbClr val="A7B8CF"/>
                </a:solidFill>
                <a:latin typeface="Aptos"/>
              </a:defRPr>
            </a:pPr>
            <a:r>
              <a:t>AGENT FORGE  •  CONTRACT-DRIVEN AGENT ENGINEERING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A7B8CF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0F5FC"/>
                </a:solidFill>
                <a:latin typeface="Aptos"/>
              </a:defRPr>
            </a:pPr>
            <a:r>
              <a:t>Non-negotiable operating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These rules protect quality as the number of agents and parallel tasks grows.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30CDDC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424160" cy="50292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0F5FC"/>
                </a:solidFill>
                <a:latin typeface="Aptos"/>
              </a:defRPr>
            </a:pPr>
            <a:r>
              <a:t>•  One accountable owner per task; collaborators are explicitly listed.</a:t>
            </a:r>
          </a:p>
          <a:p>
            <a:pPr>
              <a:spcAft>
                <a:spcPts val="1200"/>
              </a:spcAft>
              <a:defRPr sz="1500">
                <a:solidFill>
                  <a:srgbClr val="F0F5FC"/>
                </a:solidFill>
                <a:latin typeface="Aptos"/>
              </a:defRPr>
            </a:pPr>
            <a:r>
              <a:t>•  No task is complete without an artifact and acceptance evidence.</a:t>
            </a:r>
          </a:p>
          <a:p>
            <a:pPr>
              <a:spcAft>
                <a:spcPts val="1200"/>
              </a:spcAft>
              <a:defRPr sz="1500">
                <a:solidFill>
                  <a:srgbClr val="F0F5FC"/>
                </a:solidFill>
                <a:latin typeface="Aptos"/>
              </a:defRPr>
            </a:pPr>
            <a:r>
              <a:t>•  Shared files have ownership boundaries; avoid concurrent writes to the same files.</a:t>
            </a:r>
          </a:p>
          <a:p>
            <a:pPr>
              <a:spcAft>
                <a:spcPts val="1200"/>
              </a:spcAft>
              <a:defRPr sz="1500">
                <a:solidFill>
                  <a:srgbClr val="F0F5FC"/>
                </a:solidFill>
                <a:latin typeface="Aptos"/>
              </a:defRPr>
            </a:pPr>
            <a:r>
              <a:t>•  Every agent reports blockers early and escalates conflicts to its supervisor.</a:t>
            </a:r>
          </a:p>
          <a:p>
            <a:pPr>
              <a:spcAft>
                <a:spcPts val="1200"/>
              </a:spcAft>
              <a:defRPr sz="1500">
                <a:solidFill>
                  <a:srgbClr val="F0F5FC"/>
                </a:solidFill>
                <a:latin typeface="Aptos"/>
              </a:defRPr>
            </a:pPr>
            <a:r>
              <a:t>•  Human approval is required for production deploys, destructive actions and security exceptions.</a:t>
            </a:r>
          </a:p>
          <a:p>
            <a:pPr>
              <a:spcAft>
                <a:spcPts val="1200"/>
              </a:spcAft>
              <a:defRPr sz="1500">
                <a:solidFill>
                  <a:srgbClr val="F0F5FC"/>
                </a:solidFill>
                <a:latin typeface="Aptos"/>
              </a:defRPr>
            </a:pPr>
            <a:r>
              <a:t>•  Learning is curated, evaluated and versioned—not silently self-modified.</a:t>
            </a:r>
          </a:p>
          <a:p>
            <a:pPr>
              <a:spcAft>
                <a:spcPts val="1200"/>
              </a:spcAft>
              <a:defRPr sz="1500">
                <a:solidFill>
                  <a:srgbClr val="F0F5FC"/>
                </a:solidFill>
                <a:latin typeface="Aptos"/>
              </a:defRPr>
            </a:pPr>
            <a:r>
              <a:t>•  Meetings end with decisions, owners and due dates.</a:t>
            </a:r>
          </a:p>
          <a:p>
            <a:pPr>
              <a:spcAft>
                <a:spcPts val="1200"/>
              </a:spcAft>
              <a:defRPr sz="1500">
                <a:solidFill>
                  <a:srgbClr val="F0F5FC"/>
                </a:solidFill>
                <a:latin typeface="Aptos"/>
              </a:defRPr>
            </a:pPr>
            <a:r>
              <a:t>•  AgentForge core project cannot be deleted; deployment must support rollback.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700" b="0">
                <a:solidFill>
                  <a:srgbClr val="A7B8CF"/>
                </a:solidFill>
                <a:latin typeface="Aptos"/>
              </a:defRPr>
            </a:pPr>
            <a:r>
              <a:t>AGENT FORGE  •  CONTRACT-DRIVEN AGENT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A7B8CF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0F5FC"/>
                </a:solidFill>
                <a:latin typeface="Aptos"/>
              </a:defRPr>
            </a:pPr>
            <a:r>
              <a:t>Start with a pilot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A small, disciplined agent team is better than a large, uncoordinated swarm.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30CDDC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240280" cy="96012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FFA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490472"/>
            <a:ext cx="213055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1. Product Owner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01368"/>
            <a:ext cx="2093976" cy="5394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Define one measurable goal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417320"/>
            <a:ext cx="2240280" cy="96012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37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92424" y="1490472"/>
            <a:ext cx="213055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2. Manager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1801368"/>
            <a:ext cx="2093976" cy="5394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Decompose into contracts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417320"/>
            <a:ext cx="2240280" cy="96012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B0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98464" y="1490472"/>
            <a:ext cx="213055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3. 3–5 Specialists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1801368"/>
            <a:ext cx="2093976" cy="5394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Build, design, research, QA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417320"/>
            <a:ext cx="2240280" cy="960120"/>
          </a:xfrm>
          <a:prstGeom prst="roundRect">
            <a:avLst/>
          </a:prstGeom>
          <a:solidFill>
            <a:srgbClr val="1D2D48"/>
          </a:solidFill>
          <a:ln w="17780">
            <a:solidFill>
              <a:srgbClr val="4D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04504" y="1490472"/>
            <a:ext cx="213055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0F5FC"/>
                </a:solidFill>
                <a:latin typeface="Aptos"/>
              </a:defRPr>
            </a:pPr>
            <a:r>
              <a:t>4. Human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1801368"/>
            <a:ext cx="2093976" cy="5394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900" b="0">
                <a:solidFill>
                  <a:srgbClr val="A7B8CF"/>
                </a:solidFill>
                <a:latin typeface="Aptos"/>
              </a:defRPr>
            </a:pPr>
            <a:r>
              <a:t>Accept, learn, iterate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71800" y="1901952"/>
            <a:ext cx="365760" cy="0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577840" y="1901952"/>
            <a:ext cx="365760" cy="0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183879" y="1901952"/>
            <a:ext cx="365761" cy="0"/>
          </a:xfrm>
          <a:prstGeom prst="line">
            <a:avLst/>
          </a:prstGeom>
          <a:ln w="22860">
            <a:solidFill>
              <a:srgbClr val="30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2960" y="3154680"/>
            <a:ext cx="3291840" cy="132588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3154680"/>
            <a:ext cx="64008" cy="1325880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3264408"/>
            <a:ext cx="29992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PILOT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3639312"/>
            <a:ext cx="2980944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Choose one bounded feature that touches UI, API and tests.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154680"/>
            <a:ext cx="3291840" cy="132588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154680"/>
            <a:ext cx="64008" cy="1325880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1" y="3264408"/>
            <a:ext cx="29992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PILOT MEETINGS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1" y="3639312"/>
            <a:ext cx="2980944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Daily stand-up + planning + design/architecture + QA triage + demo/retro.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154680"/>
            <a:ext cx="3291840" cy="1325880"/>
          </a:xfrm>
          <a:prstGeom prst="roundRect">
            <a:avLst/>
          </a:prstGeom>
          <a:solidFill>
            <a:srgbClr val="162239"/>
          </a:solidFill>
          <a:ln w="12700">
            <a:solidFill>
              <a:srgbClr val="1D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3154680"/>
            <a:ext cx="64008" cy="1325880"/>
          </a:xfrm>
          <a:prstGeom prst="rect">
            <a:avLst/>
          </a:prstGeom>
          <a:solidFill>
            <a:srgbClr val="4D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11312" y="3264408"/>
            <a:ext cx="29992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0F5FC"/>
                </a:solidFill>
                <a:latin typeface="Aptos"/>
              </a:defRPr>
            </a:pPr>
            <a:r>
              <a:t>PILOT EXIT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2" y="3639312"/>
            <a:ext cx="2980944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A7B8CF"/>
                </a:solidFill>
                <a:latin typeface="Aptos"/>
              </a:defRPr>
            </a:pPr>
            <a:r>
              <a:t>Working increment, passing tests, cost baseline and lessons learned.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166360"/>
            <a:ext cx="1024128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400" b="1">
                <a:solidFill>
                  <a:srgbClr val="30CDDC"/>
                </a:solidFill>
                <a:latin typeface="Aptos"/>
              </a:defRPr>
            </a:pPr>
            <a:r>
              <a:t>Build together. Verify together. Improve together.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263640"/>
            <a:ext cx="10789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A7B8CF"/>
                </a:solidFill>
                <a:latin typeface="Aptos"/>
              </a:defRPr>
            </a:pPr>
            <a:r>
              <a:t>Based on the supplied AgentForge platform requirements; technical choices are recommendations for implementation.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700" b="0">
                <a:solidFill>
                  <a:srgbClr val="A7B8CF"/>
                </a:solidFill>
                <a:latin typeface="Aptos"/>
              </a:defRPr>
            </a:pPr>
            <a:r>
              <a:t>AGENT FORGE  •  CONTRACT-DRIVEN AGENT ENGINEERING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A7B8CF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