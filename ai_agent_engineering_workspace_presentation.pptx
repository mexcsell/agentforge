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914400"/>
            <a:ext cx="502920" cy="502920"/>
          </a:xfrm>
          <a:prstGeom prst="ellipse">
            <a:avLst/>
          </a:prstGeom>
          <a:solidFill>
            <a:srgbClr val="4082FF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1554480"/>
            <a:ext cx="384048" cy="384048"/>
          </a:xfrm>
          <a:prstGeom prst="ellipse">
            <a:avLst/>
          </a:prstGeom>
          <a:solidFill>
            <a:srgbClr val="32BED2"/>
          </a:solidFill>
          <a:ln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743200"/>
            <a:ext cx="640080" cy="640080"/>
          </a:xfrm>
          <a:prstGeom prst="ellipse">
            <a:avLst/>
          </a:prstGeom>
          <a:solidFill>
            <a:srgbClr val="9169FF"/>
          </a:solidFill>
          <a:ln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840480"/>
            <a:ext cx="457200" cy="457200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4572000"/>
            <a:ext cx="384048" cy="384048"/>
          </a:xfrm>
          <a:prstGeom prst="ellipse">
            <a:avLst/>
          </a:prstGeom>
          <a:solidFill>
            <a:srgbClr val="F59F42"/>
          </a:solidFill>
          <a:ln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303520"/>
            <a:ext cx="320040" cy="320040"/>
          </a:xfrm>
          <a:prstGeom prst="ellipse">
            <a:avLst/>
          </a:prstGeom>
          <a:solidFill>
            <a:srgbClr val="4082FF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2194560"/>
            <a:ext cx="310896" cy="310896"/>
          </a:xfrm>
          <a:prstGeom prst="ellipse">
            <a:avLst/>
          </a:prstGeom>
          <a:solidFill>
            <a:srgbClr val="32BED2"/>
          </a:solidFill>
          <a:ln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052560" y="1188720"/>
            <a:ext cx="1280160" cy="54864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1371600"/>
            <a:ext cx="640080" cy="146304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3017520"/>
            <a:ext cx="1005840" cy="100584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03920" y="3200400"/>
            <a:ext cx="914400" cy="155448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81360" y="4297680"/>
            <a:ext cx="182880" cy="109728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046720" y="1280160"/>
            <a:ext cx="822960" cy="109728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4754880"/>
            <a:ext cx="2286000" cy="640080"/>
          </a:xfrm>
          <a:prstGeom prst="line">
            <a:avLst/>
          </a:prstGeom>
          <a:ln w="22860">
            <a:solidFill>
              <a:srgbClr val="46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1051560"/>
            <a:ext cx="6766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2BED2"/>
                </a:solidFill>
                <a:latin typeface="Aptos"/>
              </a:rPr>
              <a:t>PRODUCT VISION • SYSTEM DESIGN • DELIVERY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667512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AI Agent Engineering</a:t>
            </a:r>
          </a:p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429000"/>
            <a:ext cx="61264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CBD7EB"/>
                </a:solidFill>
                <a:latin typeface="Aptos"/>
              </a:rPr>
              <a:t>A coordinated team of specialist agents that plans, builds, tests, and maintains software with Claude.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800600"/>
            <a:ext cx="5212080" cy="658368"/>
          </a:xfrm>
          <a:prstGeom prst="roundRect">
            <a:avLst/>
          </a:prstGeom>
          <a:solidFill>
            <a:srgbClr val="1D2B42"/>
          </a:solidFill>
          <a:ln w="12700">
            <a:solidFill>
              <a:srgbClr val="41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965192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Concept presentation • Current capabilities + next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63640"/>
            <a:ext cx="65836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99ABC8"/>
                </a:solidFill>
                <a:latin typeface="Aptos"/>
              </a:rPr>
              <a:t>Working title: “Agent” group (not “Argent”)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01 •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The idea in one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50876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508760"/>
          </a:xfrm>
          <a:prstGeom prst="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55063"/>
            <a:ext cx="31455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1D30"/>
                </a:solidFill>
                <a:latin typeface="Aptos"/>
              </a:rPr>
              <a:t>One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45536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87"/>
                </a:solidFill>
                <a:latin typeface="Aptos"/>
              </a:rPr>
              <a:t>A web control room for projects, conversations, tasks, and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50876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508760"/>
          </a:xfrm>
          <a:prstGeom prst="rect">
            <a:avLst/>
          </a:prstGeom>
          <a:solidFill>
            <a:srgbClr val="9169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55063"/>
            <a:ext cx="31455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1D30"/>
                </a:solidFill>
                <a:latin typeface="Aptos"/>
              </a:rPr>
              <a:t>Many specialist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45536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87"/>
                </a:solidFill>
                <a:latin typeface="Aptos"/>
              </a:rPr>
              <a:t>A manager coordinates developers, design, QA, research, DevOps, and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508760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508760"/>
          </a:xfrm>
          <a:prstGeom prst="rect">
            <a:avLst/>
          </a:prstGeom>
          <a:solidFill>
            <a:srgbClr val="2AB47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55063"/>
            <a:ext cx="31455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1D30"/>
                </a:solidFill>
                <a:latin typeface="Aptos"/>
              </a:rPr>
              <a:t>Traceable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145536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87"/>
                </a:solidFill>
                <a:latin typeface="Aptos"/>
              </a:rPr>
              <a:t>Every task has an owner, estimate, status, progress, insights, and next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21D30"/>
                </a:solidFill>
                <a:latin typeface="Aptos"/>
              </a:rPr>
              <a:t>Core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106070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232D3E"/>
                </a:solidFill>
                <a:latin typeface="Aptos"/>
              </a:rPr>
              <a:t>Agents should not be a loose collection of chatbots. They should operate as a governed delivery system: shared project context, explicit task ownership, controlled tools, review gates, and an auditable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14416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647187"/>
                </a:solidFill>
                <a:latin typeface="Aptos"/>
              </a:rPr>
              <a:t>Outcome: humans set direction and approve consequential changes; agents handle bounded work and report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02 • AGENT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What roles should the agent group include?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840480" cy="658368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12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474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Orchestrator / Project Manager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417320" y="2075688"/>
            <a:ext cx="4663440" cy="411480"/>
          </a:xfrm>
          <a:prstGeom prst="line">
            <a:avLst/>
          </a:prstGeom>
          <a:ln w="1905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657600" y="2075688"/>
            <a:ext cx="2423160" cy="411480"/>
          </a:xfrm>
          <a:prstGeom prst="line">
            <a:avLst/>
          </a:prstGeom>
          <a:ln w="1905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075688"/>
            <a:ext cx="18288" cy="411480"/>
          </a:xfrm>
          <a:prstGeom prst="line">
            <a:avLst/>
          </a:prstGeom>
          <a:ln w="1905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075688"/>
            <a:ext cx="2450592" cy="411480"/>
          </a:xfrm>
          <a:prstGeom prst="line">
            <a:avLst/>
          </a:prstGeom>
          <a:ln w="1905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075688"/>
            <a:ext cx="4709160" cy="411480"/>
          </a:xfrm>
          <a:prstGeom prst="line">
            <a:avLst/>
          </a:prstGeom>
          <a:ln w="1905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2514600"/>
            <a:ext cx="1920240" cy="100584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1005840"/>
          </a:xfrm>
          <a:prstGeom prst="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660904"/>
            <a:ext cx="15910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Planning &amp;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44952"/>
            <a:ext cx="159105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Product owner • Business analyst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514600"/>
            <a:ext cx="1920240" cy="100584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2514600"/>
            <a:ext cx="73152" cy="1005840"/>
          </a:xfrm>
          <a:prstGeom prst="rect">
            <a:avLst/>
          </a:prstGeom>
          <a:solidFill>
            <a:srgbClr val="9169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660904"/>
            <a:ext cx="15910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044952"/>
            <a:ext cx="159105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Frontend • Backend • API •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514600"/>
            <a:ext cx="1920240" cy="1005840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2514600"/>
            <a:ext cx="73152" cy="1005840"/>
          </a:xfrm>
          <a:prstGeom prst="rect">
            <a:avLst/>
          </a:prstGeom>
          <a:solidFill>
            <a:srgbClr val="F59F42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2660904"/>
            <a:ext cx="15910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Experience &amp; 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7" y="3044952"/>
            <a:ext cx="159105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UI/UX • Visual design •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514600"/>
            <a:ext cx="1920240" cy="1005840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2514600"/>
            <a:ext cx="73152" cy="1005840"/>
          </a:xfrm>
          <a:prstGeom prst="rect">
            <a:avLst/>
          </a:prstGeom>
          <a:solidFill>
            <a:srgbClr val="2AB47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2048" y="2660904"/>
            <a:ext cx="15910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Quality &amp;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3044952"/>
            <a:ext cx="159105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QA • Security • Accessibility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2514600"/>
            <a:ext cx="2331720" cy="1005840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2514600"/>
            <a:ext cx="73152" cy="1005840"/>
          </a:xfrm>
          <a:prstGeom prst="rect">
            <a:avLst/>
          </a:prstGeom>
          <a:solidFill>
            <a:srgbClr val="32BED2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2660904"/>
            <a:ext cx="20025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Delivery &amp;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044952"/>
            <a:ext cx="200253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DevOps • Docs • Release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977639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Optional specialists, invoked when the project needs them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80560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6384" y="4645152"/>
            <a:ext cx="219456" cy="219456"/>
          </a:xfrm>
          <a:prstGeom prst="ellipse">
            <a:avLst/>
          </a:prstGeom>
          <a:solidFill>
            <a:srgbClr val="4082FF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562856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Research / 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562856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Find sources, compare options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4480560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89704" y="4645152"/>
            <a:ext cx="219456" cy="219456"/>
          </a:xfrm>
          <a:prstGeom prst="ellipse">
            <a:avLst/>
          </a:prstGeom>
          <a:solidFill>
            <a:srgbClr val="32BED2"/>
          </a:solidFill>
          <a:ln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4562856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Data /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562856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Schemas, metrics, insights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19" y="4480560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93023" y="4645152"/>
            <a:ext cx="219456" cy="219456"/>
          </a:xfrm>
          <a:prstGeom prst="ellipse">
            <a:avLst/>
          </a:prstGeom>
          <a:solidFill>
            <a:srgbClr val="9169FF"/>
          </a:solidFill>
          <a:ln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19" y="4562856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Performance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562856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Profiling, optimization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193792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6384" y="5358384"/>
            <a:ext cx="219456" cy="219456"/>
          </a:xfrm>
          <a:prstGeom prst="ellipse">
            <a:avLst/>
          </a:prstGeom>
          <a:solidFill>
            <a:srgbClr val="F59F42"/>
          </a:solidFill>
          <a:ln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276088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Localization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5276088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Language, locale, content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43400" y="5193792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89704" y="5358384"/>
            <a:ext cx="219456" cy="219456"/>
          </a:xfrm>
          <a:prstGeom prst="ellipse">
            <a:avLst/>
          </a:prstGeom>
          <a:solidFill>
            <a:srgbClr val="E25564"/>
          </a:solidFill>
          <a:ln>
            <a:solidFill>
              <a:srgbClr val="E2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5276088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Compliance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276088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Licenses, privacy, policy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19" y="5193792"/>
            <a:ext cx="3474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93023" y="5358384"/>
            <a:ext cx="219456" cy="219456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19" y="5276088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Release 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5276088"/>
            <a:ext cx="1691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Versioning, changelog, rollback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03 •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How the agents work together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93392" cy="182880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993392"/>
            <a:ext cx="384048" cy="384048"/>
          </a:xfrm>
          <a:prstGeom prst="ellipse">
            <a:avLst/>
          </a:prstGeom>
          <a:solidFill>
            <a:srgbClr val="4082FF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66543"/>
            <a:ext cx="3840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029968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606040"/>
            <a:ext cx="166420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Human sets goal, scope,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constraints, and success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2615" y="2743200"/>
            <a:ext cx="265176" cy="0"/>
          </a:xfrm>
          <a:prstGeom prst="line">
            <a:avLst/>
          </a:prstGeom>
          <a:ln w="2540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1828800"/>
            <a:ext cx="1993392" cy="182880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2" y="1993392"/>
            <a:ext cx="384048" cy="384048"/>
          </a:xfrm>
          <a:prstGeom prst="ellipse">
            <a:avLst/>
          </a:prstGeom>
          <a:solidFill>
            <a:srgbClr val="9169FF"/>
          </a:solidFill>
          <a:ln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066543"/>
            <a:ext cx="3840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29968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06040"/>
            <a:ext cx="166420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Manager decomposes work;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assigns owners and dependencies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46904" y="2743200"/>
            <a:ext cx="265175" cy="0"/>
          </a:xfrm>
          <a:prstGeom prst="line">
            <a:avLst/>
          </a:prstGeom>
          <a:ln w="2540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48656" y="1828800"/>
            <a:ext cx="1993392" cy="1828800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4960" y="1993392"/>
            <a:ext cx="384048" cy="384048"/>
          </a:xfrm>
          <a:prstGeom prst="ellipse">
            <a:avLst/>
          </a:prstGeom>
          <a:solidFill>
            <a:srgbClr val="32BED2"/>
          </a:solidFill>
          <a:ln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066543"/>
            <a:ext cx="3840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029968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2606040"/>
            <a:ext cx="166420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Specialists use approved tools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in isolated work branches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51192" y="2743200"/>
            <a:ext cx="265176" cy="0"/>
          </a:xfrm>
          <a:prstGeom prst="line">
            <a:avLst/>
          </a:prstGeom>
          <a:ln w="2540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52944" y="1828800"/>
            <a:ext cx="1993392" cy="1828800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99248" y="1993392"/>
            <a:ext cx="384048" cy="384048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066543"/>
            <a:ext cx="3840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029968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2606040"/>
            <a:ext cx="166420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Tests, reviews, security checks,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and acceptance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2743200"/>
            <a:ext cx="265176" cy="0"/>
          </a:xfrm>
          <a:prstGeom prst="line">
            <a:avLst/>
          </a:prstGeom>
          <a:ln w="2540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57232" y="1828800"/>
            <a:ext cx="1993392" cy="1828800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03536" y="1993392"/>
            <a:ext cx="384048" cy="384048"/>
          </a:xfrm>
          <a:prstGeom prst="ellipse">
            <a:avLst/>
          </a:prstGeom>
          <a:solidFill>
            <a:srgbClr val="F59F42"/>
          </a:solidFill>
          <a:ln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03536" y="2066543"/>
            <a:ext cx="3840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9024" y="2029968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2606040"/>
            <a:ext cx="166420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Human approval, merge/release,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summary, and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Guardrails that make this reliable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617720"/>
            <a:ext cx="51206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4" y="4745736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152" y="4690872"/>
            <a:ext cx="4526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Task boundaries and permissions are explicit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617720"/>
            <a:ext cx="51206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9944" y="4745736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02552" y="4690872"/>
            <a:ext cx="4526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Code changes run in branches / worktrees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257800"/>
            <a:ext cx="51206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3544" y="5385816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152" y="5330952"/>
            <a:ext cx="4526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Tests and review gates precede merge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257800"/>
            <a:ext cx="51206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9944" y="5385816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02552" y="5330952"/>
            <a:ext cx="4526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Human approval required for destructive actions and production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04 •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Target 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835640" cy="8412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082FF"/>
                </a:solidFill>
                <a:latin typeface="Aptos"/>
              </a:rPr>
              <a:t>WEB CONTROL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8321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21D30"/>
                </a:solidFill>
                <a:latin typeface="Aptos"/>
              </a:rPr>
              <a:t>Dashboard • Projects • Topics &amp; Claude chat • Task board • File explorer • Agent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10835640" cy="105156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24912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9169FF"/>
                </a:solidFill>
                <a:latin typeface="Aptos"/>
              </a:rPr>
              <a:t>APPLICATION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82296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21D30"/>
                </a:solidFill>
                <a:latin typeface="Aptos"/>
              </a:rPr>
              <a:t>Auth &amp; permissions • Project/task service • Conversation service • File operations • Agent orchestration • Audit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10835640" cy="960120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11480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8796"/>
                </a:solidFill>
                <a:latin typeface="Aptos"/>
              </a:rPr>
              <a:t>AGENT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78224"/>
            <a:ext cx="8229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21D30"/>
                </a:solidFill>
                <a:latin typeface="Aptos"/>
              </a:rPr>
              <a:t>Claude adapter • Role prompts • Tool registry • Queue/worker • Sandboxed execution • Test runner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12080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647187"/>
                </a:solidFill>
                <a:latin typeface="Aptos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76672"/>
            <a:ext cx="8229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21D30"/>
                </a:solidFill>
                <a:latin typeface="Aptos"/>
              </a:rPr>
              <a:t>Database: projects/tasks/chat metadata • Repository/filesystem: source files • Secrets vault • Logs/artifacts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258568"/>
            <a:ext cx="0" cy="265176"/>
          </a:xfrm>
          <a:prstGeom prst="line">
            <a:avLst/>
          </a:prstGeom>
          <a:ln w="2032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611880"/>
            <a:ext cx="0" cy="265176"/>
          </a:xfrm>
          <a:prstGeom prst="line">
            <a:avLst/>
          </a:prstGeom>
          <a:ln w="2032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892040"/>
            <a:ext cx="0" cy="265176"/>
          </a:xfrm>
          <a:prstGeom prst="line">
            <a:avLst/>
          </a:prstGeom>
          <a:ln w="20320">
            <a:solidFill>
              <a:srgbClr val="647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080760"/>
            <a:ext cx="10424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E25564"/>
                </a:solidFill>
                <a:latin typeface="Aptos"/>
              </a:rPr>
              <a:t>Design rule: keep model access, filesystem access, and execution behind a server-side permission boundary.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05 • PRODUCT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Website modules and expected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212080" cy="123444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73152" cy="1234440"/>
          </a:xfrm>
          <a:prstGeom prst="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9344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A. Agent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Start / stop / restart app services; show health, logs, and deployment version.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123444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1234440"/>
          </a:xfrm>
          <a:prstGeom prst="rect">
            <a:avLst/>
          </a:prstGeom>
          <a:solidFill>
            <a:srgbClr val="9169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09344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B. Claude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Create topics, continue topic-scoped chats, retain history, search/export, delete with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44368"/>
            <a:ext cx="5212080" cy="1234440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44368"/>
            <a:ext cx="73152" cy="1234440"/>
          </a:xfrm>
          <a:prstGeom prst="rect">
            <a:avLst/>
          </a:prstGeom>
          <a:solidFill>
            <a:srgbClr val="32BED2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090672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C. Project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74720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Register project, choose repository/work directory, branch, stack, rules, and 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44368"/>
            <a:ext cx="5212080" cy="1234440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44368"/>
            <a:ext cx="73152" cy="1234440"/>
          </a:xfrm>
          <a:prstGeom prst="rect">
            <a:avLst/>
          </a:prstGeom>
          <a:solidFill>
            <a:srgbClr val="2AB47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90672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D. Task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474720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Assign agent, estimate effort, status, progress, blockers, insights, next actions, dependencies.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25696"/>
            <a:ext cx="5212080" cy="1234440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425696"/>
            <a:ext cx="73152" cy="1234440"/>
          </a:xfrm>
          <a:prstGeom prst="rect">
            <a:avLst/>
          </a:prstGeom>
          <a:solidFill>
            <a:srgbClr val="F59F42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572000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E. Repository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56048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Browse tree, open/edit files, create, rename, move, delete, search, view diffs.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25696"/>
            <a:ext cx="5212080" cy="1234440"/>
          </a:xfrm>
          <a:prstGeom prst="roundRect">
            <a:avLst/>
          </a:prstGeom>
          <a:solidFill>
            <a:srgbClr val="FFE7EA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425696"/>
            <a:ext cx="73152" cy="1234440"/>
          </a:xfrm>
          <a:prstGeom prst="rect">
            <a:avLst/>
          </a:prstGeom>
          <a:solidFill>
            <a:srgbClr val="E25564"/>
          </a:solidFill>
          <a:ln w="12700">
            <a:solidFill>
              <a:srgbClr val="E2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572000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F. Governance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56048"/>
            <a:ext cx="488289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Permissions, approval queue, action history, test evidence, cost/usage and error visibility.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80760"/>
            <a:ext cx="10424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E25564"/>
                </a:solidFill>
                <a:latin typeface="Aptos"/>
              </a:rPr>
              <a:t>“Restart website” should mean a controlled service operation with health checks and rollback—not an unrestricted shell command.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06 • WORK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Project and task data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1371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082FF"/>
                </a:solidFill>
                <a:latin typeface="Aptos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81912"/>
            <a:ext cx="8686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21D30"/>
                </a:solidFill>
                <a:latin typeface="Aptos"/>
              </a:rPr>
              <a:t>Name • Goal • Repository/workspace • Tech stack • Rules • Access policy • Milestones •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3429000" cy="896112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88920"/>
            <a:ext cx="73152" cy="896112"/>
          </a:xfrm>
          <a:prstGeom prst="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935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Task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319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ID, title, scope,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429000" cy="896112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88920"/>
            <a:ext cx="73152" cy="896112"/>
          </a:xfrm>
          <a:prstGeom prst="rect">
            <a:avLst/>
          </a:prstGeom>
          <a:solidFill>
            <a:srgbClr val="9169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935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319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Assigned agent + reviewer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88920"/>
            <a:ext cx="3429000" cy="896112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788920"/>
            <a:ext cx="73152" cy="896112"/>
          </a:xfrm>
          <a:prstGeom prst="rect">
            <a:avLst/>
          </a:prstGeom>
          <a:solidFill>
            <a:srgbClr val="32BED2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935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Estimate &amp;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19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Effort estimate, state, progress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31920"/>
            <a:ext cx="3429000" cy="896112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31920"/>
            <a:ext cx="73152" cy="896112"/>
          </a:xfrm>
          <a:prstGeom prst="rect">
            <a:avLst/>
          </a:prstGeom>
          <a:solidFill>
            <a:srgbClr val="2AB47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78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Execution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62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Updates, logs, test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931920"/>
            <a:ext cx="3429000" cy="896112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931920"/>
            <a:ext cx="73152" cy="896112"/>
          </a:xfrm>
          <a:prstGeom prst="rect">
            <a:avLst/>
          </a:prstGeom>
          <a:solidFill>
            <a:srgbClr val="F59F42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078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462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New ideas, risks,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931920"/>
            <a:ext cx="3429000" cy="896112"/>
          </a:xfrm>
          <a:prstGeom prst="roundRect">
            <a:avLst/>
          </a:prstGeom>
          <a:solidFill>
            <a:srgbClr val="FFE7EA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931920"/>
            <a:ext cx="73152" cy="896112"/>
          </a:xfrm>
          <a:prstGeom prst="rect">
            <a:avLst/>
          </a:prstGeom>
          <a:solidFill>
            <a:srgbClr val="E25564"/>
          </a:solidFill>
          <a:ln w="12700">
            <a:solidFill>
              <a:srgbClr val="E2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4078224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1D30"/>
                </a:solidFill>
                <a:latin typeface="Aptos"/>
              </a:rPr>
              <a:t>Next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462272"/>
            <a:ext cx="3099816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87"/>
                </a:solidFill>
                <a:latin typeface="Aptos"/>
              </a:rPr>
              <a:t>Checklist, blockers, dependencies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104241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Recommended task states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Backlog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4328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0048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71416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In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18504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Blocked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5592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In review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5715000"/>
            <a:ext cx="1554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5797296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21D30"/>
                </a:solidFill>
                <a:latin typeface="Aptos"/>
              </a:rPr>
              <a:t>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07 • FILESYSTEM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Repository and file explorer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800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800600" cy="4572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12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4389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WORKSPACE / acme-app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4082FF"/>
                </a:solidFill>
                <a:latin typeface="Aptos"/>
              </a:rPr>
              <a:t>▾  src/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169FF"/>
                </a:solidFill>
                <a:latin typeface="Aptos"/>
              </a:rPr>
              <a:t>   ▾  components/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      ◇  Header.tsx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      ◇  ProjectBoard.tsx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169FF"/>
                </a:solidFill>
                <a:latin typeface="Aptos"/>
              </a:rPr>
              <a:t>   ▾  services/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      ◇  claude.ts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4082FF"/>
                </a:solidFill>
                <a:latin typeface="Aptos"/>
              </a:rPr>
              <a:t>▾  tests/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   ◇  project.spec.ts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◇  package.json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◇  README.md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◇  .env.example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417320"/>
            <a:ext cx="5806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5000" y="1417320"/>
            <a:ext cx="5806440" cy="45720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1536192"/>
            <a:ext cx="5394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ProjectBoard.tsx  •  Preview / 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057400"/>
            <a:ext cx="5303520" cy="2651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export function ProjectBoard() {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// Project overview and task progress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return (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  &lt;main className="project-board"&gt;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    &lt;ProjectSummary /&gt;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    &lt;TaskList /&gt;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  &lt;/main&gt;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  );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D3E"/>
                </a:solidFill>
                <a:latin typeface="Consolas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44383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Rename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Move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Delete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2992" y="5074920"/>
            <a:ext cx="749808" cy="38404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5175504"/>
            <a:ext cx="713232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Diff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559552"/>
            <a:ext cx="5212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E25564"/>
                </a:solidFill>
                <a:latin typeface="Aptos"/>
              </a:rPr>
              <a:t>Destructive operations: confirm, log, and support recovery where possible.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080760"/>
            <a:ext cx="10424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47187"/>
                </a:solidFill>
                <a:latin typeface="Aptos"/>
              </a:rPr>
              <a:t>Safety defaults: path confinement, symlink checks, size limits, secret masking, version control, and recoverable deletes.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08 • CONVERSATION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Topic-based Claude conversation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7632"/>
            <a:ext cx="2286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082FF"/>
                </a:solidFill>
                <a:latin typeface="Aptos"/>
              </a:rPr>
              <a:t>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57400"/>
            <a:ext cx="2423160" cy="59436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48840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Architecture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77440"/>
            <a:ext cx="210312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12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807208"/>
            <a:ext cx="2423160" cy="594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98648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UI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210312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8 messages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557015"/>
            <a:ext cx="2423160" cy="594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48456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Performance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77055"/>
            <a:ext cx="210312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5 messages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306824"/>
            <a:ext cx="2423160" cy="594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398264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21D30"/>
                </a:solidFill>
                <a:latin typeface="Aptos"/>
              </a:rPr>
              <a:t>Release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626864"/>
            <a:ext cx="210312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3 messages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1417320"/>
            <a:ext cx="7818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0208" y="1627632"/>
            <a:ext cx="7223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9169FF"/>
                </a:solidFill>
                <a:latin typeface="Aptos"/>
              </a:rPr>
              <a:t>ARCHITECTURE PLAN  •  CLAUDE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2057400"/>
            <a:ext cx="5212080" cy="658368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E6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2176272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21D30"/>
                </a:solidFill>
                <a:latin typeface="Aptos"/>
              </a:rPr>
              <a:t>Define the service boundaries and file access rules.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907792"/>
            <a:ext cx="5440680" cy="786384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E1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3026664"/>
            <a:ext cx="4983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21D30"/>
                </a:solidFill>
                <a:latin typeface="Aptos"/>
              </a:rPr>
              <a:t>Proposed: separate orchestration, repository tools, and model adapter. Require approval for writes and deletes.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3913632"/>
            <a:ext cx="6309360" cy="6583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032504"/>
            <a:ext cx="5943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Context can include selected project, files, task IDs, and pinned decisions.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4892040"/>
            <a:ext cx="7223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5102352"/>
            <a:ext cx="63093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87"/>
                </a:solidFill>
                <a:latin typeface="Aptos"/>
              </a:rPr>
              <a:t>Message Claude…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5010912"/>
            <a:ext cx="530352" cy="457200"/>
          </a:xfrm>
          <a:prstGeom prst="round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5129784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80760"/>
            <a:ext cx="10424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47187"/>
                </a:solidFill>
                <a:latin typeface="Aptos"/>
              </a:rPr>
              <a:t>History design: topic metadata + ordered messages + timestamps + model/tool metadata + retention and deletion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09 • QUALITY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What “working” should mean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234440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4082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Tasks completed; cycle time; estimate vs. actual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234440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AB47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55063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Test pass rate; regressions; review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29000" cy="1234440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9169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55063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Agent failures; retry rate; recovery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90088"/>
            <a:ext cx="3429000" cy="1234440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90088"/>
            <a:ext cx="73152" cy="1234440"/>
          </a:xfrm>
          <a:prstGeom prst="rect">
            <a:avLst/>
          </a:prstGeom>
          <a:solidFill>
            <a:srgbClr val="F59F42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520440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Claude usage/cost; queue time; token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990088"/>
            <a:ext cx="3429000" cy="1234440"/>
          </a:xfrm>
          <a:prstGeom prst="roundRect">
            <a:avLst/>
          </a:prstGeom>
          <a:solidFill>
            <a:srgbClr val="FFE7EA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990088"/>
            <a:ext cx="73152" cy="1234440"/>
          </a:xfrm>
          <a:prstGeom prst="rect">
            <a:avLst/>
          </a:prstGeom>
          <a:solidFill>
            <a:srgbClr val="E25564"/>
          </a:solidFill>
          <a:ln w="12700">
            <a:solidFill>
              <a:srgbClr val="E2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520440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Denied actions; approval compliance; secret leaks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990088"/>
            <a:ext cx="3429000" cy="1234440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990088"/>
            <a:ext cx="73152" cy="1234440"/>
          </a:xfrm>
          <a:prstGeom prst="rect">
            <a:avLst/>
          </a:prstGeom>
          <a:solidFill>
            <a:srgbClr val="32BED2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1D30"/>
                </a:solidFill>
                <a:latin typeface="Aptos"/>
              </a:rPr>
              <a:t>Usability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520440"/>
            <a:ext cx="3099816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7187"/>
                </a:solidFill>
                <a:latin typeface="Aptos"/>
              </a:rPr>
              <a:t>Time to find/edit files; task status clarity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1D30"/>
                </a:solidFill>
                <a:latin typeface="Aptos"/>
              </a:rPr>
              <a:t>Minimum release gates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5404103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5349240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32D3E"/>
                </a:solidFill>
                <a:latin typeface="Aptos"/>
              </a:rPr>
              <a:t>Unit/integration tests pass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5404103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5349240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32D3E"/>
                </a:solidFill>
                <a:latin typeface="Aptos"/>
              </a:rPr>
              <a:t>Human review for risky changes</a:t>
            </a:r>
          </a:p>
        </p:txBody>
      </p:sp>
      <p:sp>
        <p:nvSpPr>
          <p:cNvPr id="36" name="Oval 35"/>
          <p:cNvSpPr/>
          <p:nvPr/>
        </p:nvSpPr>
        <p:spPr>
          <a:xfrm>
            <a:off x="777240" y="5907023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852159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32D3E"/>
                </a:solidFill>
                <a:latin typeface="Aptos"/>
              </a:rPr>
              <a:t>Audit events captured</a:t>
            </a:r>
          </a:p>
        </p:txBody>
      </p:sp>
      <p:sp>
        <p:nvSpPr>
          <p:cNvPr id="38" name="Oval 37"/>
          <p:cNvSpPr/>
          <p:nvPr/>
        </p:nvSpPr>
        <p:spPr>
          <a:xfrm>
            <a:off x="6263640" y="5907023"/>
            <a:ext cx="164592" cy="164592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852159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32D3E"/>
                </a:solidFill>
                <a:latin typeface="Aptos"/>
              </a:rPr>
              <a:t>Backup / rollback tested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10 • DELIVERY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Suggested implementation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E6EFFF"/>
          </a:solidFill>
          <a:ln w="12700"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4082FF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27048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27048"/>
            <a:ext cx="6812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Project registry, auth, workspace binding, database, audit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13432"/>
            <a:ext cx="10744200" cy="713232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32304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9169FF"/>
                </a:solidFill>
                <a:latin typeface="Aptos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423160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Read-only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23160"/>
            <a:ext cx="6812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Repository tree, file preview, task board, topic-based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9544"/>
            <a:ext cx="10744200" cy="713232"/>
          </a:xfrm>
          <a:prstGeom prst="roundRect">
            <a:avLst/>
          </a:prstGeom>
          <a:solidFill>
            <a:srgbClr val="E1F7F9"/>
          </a:solidFill>
          <a:ln w="12700"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28415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2BED2"/>
                </a:solidFill>
                <a:latin typeface="Apto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319272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Controlled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19272"/>
            <a:ext cx="6812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Create/edit/move/delete files, task assignment, Claude tool 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05656"/>
            <a:ext cx="10744200" cy="713232"/>
          </a:xfrm>
          <a:prstGeom prst="roundRect">
            <a:avLst/>
          </a:prstGeom>
          <a:solidFill>
            <a:srgbClr val="E1F7ED"/>
          </a:solidFill>
          <a:ln w="12700"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24528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AB47D"/>
                </a:solidFill>
                <a:latin typeface="Aptos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15384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Agent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15384"/>
            <a:ext cx="6812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Queue/workers, sandboxed tests, branches, progress and evidence reporting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01768"/>
            <a:ext cx="10744200" cy="713232"/>
          </a:xfrm>
          <a:prstGeom prst="roundRect">
            <a:avLst/>
          </a:prstGeom>
          <a:solidFill>
            <a:srgbClr val="FFF2E0"/>
          </a:solidFill>
          <a:ln w="12700"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120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59F42"/>
                </a:solidFill>
                <a:latin typeface="Aptos"/>
              </a:rP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111496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1D30"/>
                </a:solidFill>
                <a:latin typeface="Aptos"/>
              </a:rPr>
              <a:t>Operations &amp; hardening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111496"/>
            <a:ext cx="6812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32D3E"/>
                </a:solidFill>
                <a:latin typeface="Aptos"/>
              </a:rPr>
              <a:t>Service restart, health checks, rollback, monitoring, permissions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53328"/>
            <a:ext cx="103327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E25564"/>
                </a:solidFill>
                <a:latin typeface="Aptos"/>
              </a:rPr>
              <a:t>Sequence is risk-first: establish permissions and observability before enabling autonomous writes or shell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11 • NEXT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Future updates: detailed backlog (1/2)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082FF"/>
                </a:solidFill>
                <a:latin typeface="Aptos"/>
              </a:rPr>
              <a:t>1. Agent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Define agent lifecycle, role registry, prompt/version management, task routing, dependencies, retries, timeouts, cancellation, and escalation to a human.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1343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2316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082FF"/>
                </a:solidFill>
                <a:latin typeface="Aptos"/>
              </a:rPr>
              <a:t>2. Claude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0487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Secure server-side API key storage; model selection; streaming responses; context packing; tool-call schema validation; rate limits; usage/cost tracking; error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7355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8328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082FF"/>
                </a:solidFill>
                <a:latin typeface="Aptos"/>
              </a:rPr>
              <a:t>3. Project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6499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Project CRUD; repository/workspace picker; branch and environment selection; stack metadata; project instructions; secrets references; permissions; acceptance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3367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4340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082FF"/>
                </a:solidFill>
                <a:latin typeface="Aptos"/>
              </a:rPr>
              <a:t>4. Task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32511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Task schema; owner and reviewer; estimate vs. actual; state transitions; progress events; blockers; dependencies; insights/decisions; next actions; attachments and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9379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30352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082FF"/>
                </a:solidFill>
                <a:latin typeface="Aptos"/>
              </a:rPr>
              <a:t>5. Topic chat &amp;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285231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Topic CRUD; ordered messages; search; pin decisions; project/file context; export; retention settings; deletion confirmation; data deletion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11 • NEXT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Future updates: detailed backlog (2/2)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9169FF"/>
                </a:solidFill>
                <a:latin typeface="Aptos"/>
              </a:rPr>
              <a:t>6. File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Confined workspace paths; list/open/create/edit/rename/move/delete; search; diffs; encoding and large-file handling; symlink protection; recoverable delete;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1343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2316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9169FF"/>
                </a:solidFill>
                <a:latin typeface="Aptos"/>
              </a:rPr>
              <a:t>7. Safe 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0487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Isolated containers or worktrees; allowlisted commands; CPU/memory/time limits; network policy; dependency install controls; no host secrets; artifact capture.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7355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8328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9169FF"/>
                </a:solidFill>
                <a:latin typeface="Aptos"/>
              </a:rPr>
              <a:t>8. Website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6499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Health endpoint; logs; restart/redeploy workflow; readiness checks; version display; graceful shutdown; automatic rollback; operator-only permissions.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3367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4340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9169FF"/>
                </a:solidFill>
                <a:latin typeface="Aptos"/>
              </a:rPr>
              <a:t>9. Quality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325112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Automated tests; static analysis; dependency/license scans; secret scanning; access control tests; accessibility checks; threat model; incident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93792"/>
            <a:ext cx="10835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303520"/>
            <a:ext cx="23317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9169FF"/>
                </a:solidFill>
                <a:latin typeface="Aptos"/>
              </a:rPr>
              <a:t>10. UX &amp;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285231"/>
            <a:ext cx="7955279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32D3E"/>
                </a:solidFill>
                <a:latin typeface="Aptos"/>
              </a:rPr>
              <a:t>Task timeline; agent activity feed; notifications; logs; error states; search/filter; responsive UI; keyboard accessibility; metrics dashboard; backup/restore drills.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199632"/>
            <a:ext cx="10835640" cy="237744"/>
          </a:xfrm>
          <a:prstGeom prst="roundRect">
            <a:avLst/>
          </a:prstGeom>
          <a:solidFill>
            <a:srgbClr val="FFE7EA"/>
          </a:solidFill>
          <a:ln w="12700">
            <a:solidFill>
              <a:srgbClr val="FF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227064"/>
            <a:ext cx="105156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E25564"/>
                </a:solidFill>
                <a:latin typeface="Aptos"/>
              </a:rPr>
              <a:t>Release rule: never enable unrestricted filesystem or shell access; test permissions, backups, and rollback before production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772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4082FF"/>
                </a:solidFill>
                <a:latin typeface="Aptos"/>
              </a:rPr>
              <a:t>12 • DECISION &amp;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D30"/>
                </a:solidFill>
                <a:latin typeface="Aptos"/>
              </a:rPr>
              <a:t>Recommended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70432"/>
            <a:ext cx="11064240" cy="0"/>
          </a:xfrm>
          <a:prstGeom prst="line">
            <a:avLst/>
          </a:prstGeom>
          <a:ln w="127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47187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47187"/>
                </a:solidFill>
                <a:latin typeface="Aptos"/>
              </a:rPr>
              <a:t>AI Agent Engineering Workspace • Concept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21D30"/>
                </a:solidFill>
                <a:latin typeface="Aptos"/>
              </a:rPr>
              <a:t>Start by turning the concept into a small, verifiable vertical slice.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4082FF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85416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D3E"/>
                </a:solidFill>
                <a:latin typeface="Aptos"/>
              </a:rPr>
              <a:t>Choose the first repository/workspace and define access boundaries.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07208"/>
            <a:ext cx="365760" cy="365760"/>
          </a:xfrm>
          <a:prstGeom prst="ellipse">
            <a:avLst/>
          </a:prstGeom>
          <a:solidFill>
            <a:srgbClr val="9169FF"/>
          </a:solidFill>
          <a:ln>
            <a:solidFill>
              <a:srgbClr val="9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89504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43784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D3E"/>
                </a:solidFill>
                <a:latin typeface="Aptos"/>
              </a:rPr>
              <a:t>Implement project registration + task records + topic-based Claude chat.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65576"/>
            <a:ext cx="365760" cy="365760"/>
          </a:xfrm>
          <a:prstGeom prst="ellipse">
            <a:avLst/>
          </a:prstGeom>
          <a:solidFill>
            <a:srgbClr val="32BED2"/>
          </a:solidFill>
          <a:ln>
            <a:solidFill>
              <a:srgbClr val="32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02152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D3E"/>
                </a:solidFill>
                <a:latin typeface="Aptos"/>
              </a:rPr>
              <a:t>Build a read-only file explorer and audit every request.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23944"/>
            <a:ext cx="365760" cy="365760"/>
          </a:xfrm>
          <a:prstGeom prst="ellipse">
            <a:avLst/>
          </a:prstGeom>
          <a:solidFill>
            <a:srgbClr val="2AB47D"/>
          </a:solidFill>
          <a:ln>
            <a:solidFill>
              <a:srgbClr val="2A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D3E"/>
                </a:solidFill>
                <a:latin typeface="Aptos"/>
              </a:rPr>
              <a:t>Add guarded file writes, isolated code execution, tests, and review gates.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782312"/>
            <a:ext cx="365760" cy="365760"/>
          </a:xfrm>
          <a:prstGeom prst="ellipse">
            <a:avLst/>
          </a:prstGeom>
          <a:solidFill>
            <a:srgbClr val="F59F42"/>
          </a:solidFill>
          <a:ln>
            <a:solidFill>
              <a:srgbClr val="F59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64608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18888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D3E"/>
                </a:solidFill>
                <a:latin typeface="Aptos"/>
              </a:rPr>
              <a:t>Only then add autonomous agent coordination and restart/release operations.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12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0241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Decision needed: agree on the first supported stack, repository access model, and human-approval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Engineering Workspace</dc:title>
  <dc:subject>Agent team roles, platform architecture, and implementation roadmap</dc:subject>
  <dc:creator>OpenAI</dc:creator>
  <cp:keywords>AI agents, Claude, orchestration, project management, repository browser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